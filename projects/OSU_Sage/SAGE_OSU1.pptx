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Lst>
  <p:sldSz cx="420624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3F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4789EF-CC55-42C4-AFF4-CC3BB7B245B0}" v="8" dt="2026-07-14T18:44:17.2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1" autoAdjust="0"/>
    <p:restoredTop sz="93722" autoAdjust="0"/>
  </p:normalViewPr>
  <p:slideViewPr>
    <p:cSldViewPr snapToGrid="0">
      <p:cViewPr varScale="1">
        <p:scale>
          <a:sx n="31" d="100"/>
          <a:sy n="31" d="100"/>
        </p:scale>
        <p:origin x="2056"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600" b="0" i="0" u="none" strike="noStrike" kern="1200" spc="0" baseline="0">
                <a:solidFill>
                  <a:schemeClr val="tx1">
                    <a:lumMod val="65000"/>
                    <a:lumOff val="35000"/>
                  </a:schemeClr>
                </a:solidFill>
                <a:latin typeface="+mn-lt"/>
                <a:ea typeface="+mn-ea"/>
                <a:cs typeface="+mn-cs"/>
              </a:defRPr>
            </a:pPr>
            <a:r>
              <a:rPr lang="en-US" dirty="0"/>
              <a:t> A: SAGE (kPa) threshold value when irrigation was applied</a:t>
            </a:r>
          </a:p>
        </c:rich>
      </c:tx>
      <c:layout>
        <c:manualLayout>
          <c:xMode val="edge"/>
          <c:yMode val="edge"/>
          <c:x val="0.2322863247863248"/>
          <c:y val="2.7392158454420001E-2"/>
        </c:manualLayout>
      </c:layout>
      <c:overlay val="0"/>
      <c:spPr>
        <a:noFill/>
        <a:ln>
          <a:noFill/>
        </a:ln>
        <a:effectLst/>
      </c:spPr>
      <c:txPr>
        <a:bodyPr rot="0" spcFirstLastPara="1" vertOverflow="ellipsis" vert="horz" wrap="square" anchor="ctr" anchorCtr="1"/>
        <a:lstStyle/>
        <a:p>
          <a:pPr>
            <a:defRPr sz="36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8228733427552324"/>
          <c:y val="0.20692815975322673"/>
          <c:w val="0.7640961706709738"/>
          <c:h val="0.62955467164542578"/>
        </c:manualLayout>
      </c:layout>
      <c:scatterChart>
        <c:scatterStyle val="lineMarker"/>
        <c:varyColors val="0"/>
        <c:ser>
          <c:idx val="0"/>
          <c:order val="0"/>
          <c:tx>
            <c:strRef>
              <c:f>'ANOVA, means, tables'!$B$8</c:f>
              <c:strCache>
                <c:ptCount val="1"/>
                <c:pt idx="0">
                  <c:v>40-50</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errBars>
            <c:errDir val="y"/>
            <c:errBarType val="both"/>
            <c:errValType val="fixedVal"/>
            <c:noEndCap val="0"/>
            <c:val val="0.35000000000000003"/>
            <c:spPr>
              <a:noFill/>
              <a:ln w="9525" cap="flat" cmpd="sng" algn="ctr">
                <a:solidFill>
                  <a:schemeClr val="tx1">
                    <a:lumMod val="65000"/>
                    <a:lumOff val="35000"/>
                  </a:schemeClr>
                </a:solidFill>
                <a:round/>
              </a:ln>
              <a:effectLst/>
            </c:spPr>
          </c:errBars>
          <c:errBars>
            <c:errDir val="x"/>
            <c:errBarType val="both"/>
            <c:errValType val="fixedVal"/>
            <c:noEndCap val="0"/>
            <c:val val="0"/>
            <c:spPr>
              <a:noFill/>
              <a:ln w="9525" cap="flat" cmpd="sng" algn="ctr">
                <a:solidFill>
                  <a:schemeClr val="tx1">
                    <a:lumMod val="65000"/>
                    <a:lumOff val="35000"/>
                  </a:schemeClr>
                </a:solidFill>
                <a:round/>
              </a:ln>
              <a:effectLst/>
            </c:spPr>
          </c:errBars>
          <c:xVal>
            <c:numRef>
              <c:f>'ANOVA, means, tables'!$C$7:$T$7</c:f>
              <c:numCache>
                <c:formatCode>d\-mmm</c:formatCode>
                <c:ptCount val="18"/>
                <c:pt idx="0">
                  <c:v>46031</c:v>
                </c:pt>
                <c:pt idx="1">
                  <c:v>46038</c:v>
                </c:pt>
                <c:pt idx="2">
                  <c:v>46045</c:v>
                </c:pt>
                <c:pt idx="3">
                  <c:v>46052</c:v>
                </c:pt>
                <c:pt idx="4">
                  <c:v>46059</c:v>
                </c:pt>
                <c:pt idx="5">
                  <c:v>46066</c:v>
                </c:pt>
                <c:pt idx="6">
                  <c:v>46073</c:v>
                </c:pt>
                <c:pt idx="7">
                  <c:v>46080</c:v>
                </c:pt>
                <c:pt idx="8">
                  <c:v>46087</c:v>
                </c:pt>
                <c:pt idx="9">
                  <c:v>46094</c:v>
                </c:pt>
                <c:pt idx="10">
                  <c:v>46101</c:v>
                </c:pt>
                <c:pt idx="11">
                  <c:v>46108</c:v>
                </c:pt>
                <c:pt idx="12">
                  <c:v>46115</c:v>
                </c:pt>
                <c:pt idx="13">
                  <c:v>46122</c:v>
                </c:pt>
                <c:pt idx="14">
                  <c:v>46129</c:v>
                </c:pt>
                <c:pt idx="15">
                  <c:v>46136</c:v>
                </c:pt>
                <c:pt idx="16">
                  <c:v>46143</c:v>
                </c:pt>
                <c:pt idx="17">
                  <c:v>46150</c:v>
                </c:pt>
              </c:numCache>
            </c:numRef>
          </c:xVal>
          <c:yVal>
            <c:numRef>
              <c:f>'ANOVA, means, tables'!$C$8:$T$8</c:f>
              <c:numCache>
                <c:formatCode>0.0</c:formatCode>
                <c:ptCount val="18"/>
                <c:pt idx="0">
                  <c:v>8.3332999999999995</c:v>
                </c:pt>
                <c:pt idx="1">
                  <c:v>8</c:v>
                </c:pt>
                <c:pt idx="2">
                  <c:v>8</c:v>
                </c:pt>
                <c:pt idx="3">
                  <c:v>7</c:v>
                </c:pt>
                <c:pt idx="4">
                  <c:v>6.6666999999999996</c:v>
                </c:pt>
                <c:pt idx="5">
                  <c:v>7.6666999999999996</c:v>
                </c:pt>
                <c:pt idx="6">
                  <c:v>7.3333000000000004</c:v>
                </c:pt>
                <c:pt idx="7">
                  <c:v>7.3333000000000004</c:v>
                </c:pt>
                <c:pt idx="8">
                  <c:v>7.3333000000000004</c:v>
                </c:pt>
                <c:pt idx="9">
                  <c:v>7.6666999999999996</c:v>
                </c:pt>
                <c:pt idx="10">
                  <c:v>7</c:v>
                </c:pt>
                <c:pt idx="11">
                  <c:v>7</c:v>
                </c:pt>
                <c:pt idx="12">
                  <c:v>7.6666999999999996</c:v>
                </c:pt>
                <c:pt idx="13">
                  <c:v>7</c:v>
                </c:pt>
                <c:pt idx="14">
                  <c:v>7</c:v>
                </c:pt>
                <c:pt idx="15">
                  <c:v>6.6666999999999996</c:v>
                </c:pt>
                <c:pt idx="16">
                  <c:v>6.6666999999999996</c:v>
                </c:pt>
                <c:pt idx="17">
                  <c:v>7</c:v>
                </c:pt>
              </c:numCache>
            </c:numRef>
          </c:yVal>
          <c:smooth val="0"/>
          <c:extLst>
            <c:ext xmlns:c16="http://schemas.microsoft.com/office/drawing/2014/chart" uri="{C3380CC4-5D6E-409C-BE32-E72D297353CC}">
              <c16:uniqueId val="{00000000-0E48-4F47-9A3F-3D1DCF403C63}"/>
            </c:ext>
          </c:extLst>
        </c:ser>
        <c:ser>
          <c:idx val="1"/>
          <c:order val="1"/>
          <c:tx>
            <c:strRef>
              <c:f>'ANOVA, means, tables'!$B$9</c:f>
              <c:strCache>
                <c:ptCount val="1"/>
                <c:pt idx="0">
                  <c:v>50-60</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errBars>
            <c:errDir val="y"/>
            <c:errBarType val="both"/>
            <c:errValType val="fixedVal"/>
            <c:noEndCap val="0"/>
            <c:val val="0.35000000000000003"/>
            <c:spPr>
              <a:noFill/>
              <a:ln w="9525" cap="flat" cmpd="sng" algn="ctr">
                <a:solidFill>
                  <a:schemeClr val="tx1">
                    <a:lumMod val="65000"/>
                    <a:lumOff val="35000"/>
                  </a:schemeClr>
                </a:solidFill>
                <a:round/>
              </a:ln>
              <a:effectLst/>
            </c:spPr>
          </c:errBars>
          <c:errBars>
            <c:errDir val="x"/>
            <c:errBarType val="both"/>
            <c:errValType val="fixedVal"/>
            <c:noEndCap val="0"/>
            <c:val val="0"/>
            <c:spPr>
              <a:noFill/>
              <a:ln w="9525" cap="flat" cmpd="sng" algn="ctr">
                <a:solidFill>
                  <a:schemeClr val="tx1">
                    <a:lumMod val="65000"/>
                    <a:lumOff val="35000"/>
                  </a:schemeClr>
                </a:solidFill>
                <a:round/>
              </a:ln>
              <a:effectLst/>
            </c:spPr>
          </c:errBars>
          <c:xVal>
            <c:numRef>
              <c:f>'ANOVA, means, tables'!$C$7:$T$7</c:f>
              <c:numCache>
                <c:formatCode>d\-mmm</c:formatCode>
                <c:ptCount val="18"/>
                <c:pt idx="0">
                  <c:v>46031</c:v>
                </c:pt>
                <c:pt idx="1">
                  <c:v>46038</c:v>
                </c:pt>
                <c:pt idx="2">
                  <c:v>46045</c:v>
                </c:pt>
                <c:pt idx="3">
                  <c:v>46052</c:v>
                </c:pt>
                <c:pt idx="4">
                  <c:v>46059</c:v>
                </c:pt>
                <c:pt idx="5">
                  <c:v>46066</c:v>
                </c:pt>
                <c:pt idx="6">
                  <c:v>46073</c:v>
                </c:pt>
                <c:pt idx="7">
                  <c:v>46080</c:v>
                </c:pt>
                <c:pt idx="8">
                  <c:v>46087</c:v>
                </c:pt>
                <c:pt idx="9">
                  <c:v>46094</c:v>
                </c:pt>
                <c:pt idx="10">
                  <c:v>46101</c:v>
                </c:pt>
                <c:pt idx="11">
                  <c:v>46108</c:v>
                </c:pt>
                <c:pt idx="12">
                  <c:v>46115</c:v>
                </c:pt>
                <c:pt idx="13">
                  <c:v>46122</c:v>
                </c:pt>
                <c:pt idx="14">
                  <c:v>46129</c:v>
                </c:pt>
                <c:pt idx="15">
                  <c:v>46136</c:v>
                </c:pt>
                <c:pt idx="16">
                  <c:v>46143</c:v>
                </c:pt>
                <c:pt idx="17">
                  <c:v>46150</c:v>
                </c:pt>
              </c:numCache>
            </c:numRef>
          </c:xVal>
          <c:yVal>
            <c:numRef>
              <c:f>'ANOVA, means, tables'!$C$9:$T$9</c:f>
              <c:numCache>
                <c:formatCode>0.0</c:formatCode>
                <c:ptCount val="18"/>
                <c:pt idx="0">
                  <c:v>7.6666999999999996</c:v>
                </c:pt>
                <c:pt idx="1">
                  <c:v>6.3333000000000004</c:v>
                </c:pt>
                <c:pt idx="2">
                  <c:v>6.6666999999999996</c:v>
                </c:pt>
                <c:pt idx="3">
                  <c:v>7.3333000000000004</c:v>
                </c:pt>
                <c:pt idx="4">
                  <c:v>6.6666999999999996</c:v>
                </c:pt>
                <c:pt idx="5">
                  <c:v>7.6666999999999996</c:v>
                </c:pt>
                <c:pt idx="6">
                  <c:v>7.6666999999999996</c:v>
                </c:pt>
                <c:pt idx="7">
                  <c:v>6.6666999999999996</c:v>
                </c:pt>
                <c:pt idx="8">
                  <c:v>7</c:v>
                </c:pt>
                <c:pt idx="9">
                  <c:v>7.3333000000000004</c:v>
                </c:pt>
                <c:pt idx="10">
                  <c:v>7.6666999999999996</c:v>
                </c:pt>
                <c:pt idx="11">
                  <c:v>7.3333000000000004</c:v>
                </c:pt>
                <c:pt idx="12">
                  <c:v>7.3333000000000004</c:v>
                </c:pt>
                <c:pt idx="13">
                  <c:v>7.3333000000000004</c:v>
                </c:pt>
                <c:pt idx="14">
                  <c:v>7.3333000000000004</c:v>
                </c:pt>
                <c:pt idx="15">
                  <c:v>6.6666999999999996</c:v>
                </c:pt>
                <c:pt idx="16">
                  <c:v>7</c:v>
                </c:pt>
                <c:pt idx="17">
                  <c:v>6.6666999999999996</c:v>
                </c:pt>
              </c:numCache>
            </c:numRef>
          </c:yVal>
          <c:smooth val="0"/>
          <c:extLst>
            <c:ext xmlns:c16="http://schemas.microsoft.com/office/drawing/2014/chart" uri="{C3380CC4-5D6E-409C-BE32-E72D297353CC}">
              <c16:uniqueId val="{00000001-0E48-4F47-9A3F-3D1DCF403C63}"/>
            </c:ext>
          </c:extLst>
        </c:ser>
        <c:ser>
          <c:idx val="2"/>
          <c:order val="2"/>
          <c:tx>
            <c:strRef>
              <c:f>'ANOVA, means, tables'!$B$10</c:f>
              <c:strCache>
                <c:ptCount val="1"/>
                <c:pt idx="0">
                  <c:v>60-80</c:v>
                </c:pt>
              </c:strCache>
            </c:strRef>
          </c:tx>
          <c:spPr>
            <a:ln w="19050" cap="rnd">
              <a:solidFill>
                <a:schemeClr val="accent3"/>
              </a:solidFill>
              <a:round/>
            </a:ln>
            <a:effectLst/>
          </c:spPr>
          <c:marker>
            <c:symbol val="circle"/>
            <c:size val="5"/>
            <c:spPr>
              <a:solidFill>
                <a:schemeClr val="accent3"/>
              </a:solidFill>
              <a:ln w="9525">
                <a:solidFill>
                  <a:schemeClr val="accent3"/>
                </a:solidFill>
              </a:ln>
              <a:effectLst/>
            </c:spPr>
          </c:marker>
          <c:errBars>
            <c:errDir val="y"/>
            <c:errBarType val="both"/>
            <c:errValType val="fixedVal"/>
            <c:noEndCap val="0"/>
            <c:val val="0.35000000000000003"/>
            <c:spPr>
              <a:noFill/>
              <a:ln w="9525" cap="flat" cmpd="sng" algn="ctr">
                <a:solidFill>
                  <a:schemeClr val="tx1">
                    <a:lumMod val="65000"/>
                    <a:lumOff val="35000"/>
                  </a:schemeClr>
                </a:solidFill>
                <a:round/>
              </a:ln>
              <a:effectLst/>
            </c:spPr>
          </c:errBars>
          <c:errBars>
            <c:errDir val="x"/>
            <c:errBarType val="both"/>
            <c:errValType val="fixedVal"/>
            <c:noEndCap val="0"/>
            <c:val val="0"/>
            <c:spPr>
              <a:noFill/>
              <a:ln w="9525" cap="flat" cmpd="sng" algn="ctr">
                <a:solidFill>
                  <a:schemeClr val="tx1">
                    <a:lumMod val="65000"/>
                    <a:lumOff val="35000"/>
                  </a:schemeClr>
                </a:solidFill>
                <a:round/>
              </a:ln>
              <a:effectLst/>
            </c:spPr>
          </c:errBars>
          <c:xVal>
            <c:numRef>
              <c:f>'ANOVA, means, tables'!$C$7:$T$7</c:f>
              <c:numCache>
                <c:formatCode>d\-mmm</c:formatCode>
                <c:ptCount val="18"/>
                <c:pt idx="0">
                  <c:v>46031</c:v>
                </c:pt>
                <c:pt idx="1">
                  <c:v>46038</c:v>
                </c:pt>
                <c:pt idx="2">
                  <c:v>46045</c:v>
                </c:pt>
                <c:pt idx="3">
                  <c:v>46052</c:v>
                </c:pt>
                <c:pt idx="4">
                  <c:v>46059</c:v>
                </c:pt>
                <c:pt idx="5">
                  <c:v>46066</c:v>
                </c:pt>
                <c:pt idx="6">
                  <c:v>46073</c:v>
                </c:pt>
                <c:pt idx="7">
                  <c:v>46080</c:v>
                </c:pt>
                <c:pt idx="8">
                  <c:v>46087</c:v>
                </c:pt>
                <c:pt idx="9">
                  <c:v>46094</c:v>
                </c:pt>
                <c:pt idx="10">
                  <c:v>46101</c:v>
                </c:pt>
                <c:pt idx="11">
                  <c:v>46108</c:v>
                </c:pt>
                <c:pt idx="12">
                  <c:v>46115</c:v>
                </c:pt>
                <c:pt idx="13">
                  <c:v>46122</c:v>
                </c:pt>
                <c:pt idx="14">
                  <c:v>46129</c:v>
                </c:pt>
                <c:pt idx="15">
                  <c:v>46136</c:v>
                </c:pt>
                <c:pt idx="16">
                  <c:v>46143</c:v>
                </c:pt>
                <c:pt idx="17">
                  <c:v>46150</c:v>
                </c:pt>
              </c:numCache>
            </c:numRef>
          </c:xVal>
          <c:yVal>
            <c:numRef>
              <c:f>'ANOVA, means, tables'!$C$10:$T$10</c:f>
              <c:numCache>
                <c:formatCode>0.0</c:formatCode>
                <c:ptCount val="18"/>
                <c:pt idx="0">
                  <c:v>7.6666999999999996</c:v>
                </c:pt>
                <c:pt idx="1">
                  <c:v>6.6666999999999996</c:v>
                </c:pt>
                <c:pt idx="2">
                  <c:v>7.6666999999999996</c:v>
                </c:pt>
                <c:pt idx="3">
                  <c:v>7.3333000000000004</c:v>
                </c:pt>
                <c:pt idx="4">
                  <c:v>7</c:v>
                </c:pt>
                <c:pt idx="5">
                  <c:v>8</c:v>
                </c:pt>
                <c:pt idx="6">
                  <c:v>8</c:v>
                </c:pt>
                <c:pt idx="7">
                  <c:v>7.6666999999999996</c:v>
                </c:pt>
                <c:pt idx="8">
                  <c:v>7.6666999999999996</c:v>
                </c:pt>
                <c:pt idx="9">
                  <c:v>7.3333000000000004</c:v>
                </c:pt>
                <c:pt idx="10">
                  <c:v>7</c:v>
                </c:pt>
                <c:pt idx="11">
                  <c:v>7.6666999999999996</c:v>
                </c:pt>
                <c:pt idx="12">
                  <c:v>7.6666999999999996</c:v>
                </c:pt>
                <c:pt idx="13">
                  <c:v>7.3333000000000004</c:v>
                </c:pt>
                <c:pt idx="14">
                  <c:v>7</c:v>
                </c:pt>
                <c:pt idx="15">
                  <c:v>6.6666999999999996</c:v>
                </c:pt>
                <c:pt idx="16">
                  <c:v>7</c:v>
                </c:pt>
                <c:pt idx="17">
                  <c:v>6.6666999999999996</c:v>
                </c:pt>
              </c:numCache>
            </c:numRef>
          </c:yVal>
          <c:smooth val="0"/>
          <c:extLst>
            <c:ext xmlns:c16="http://schemas.microsoft.com/office/drawing/2014/chart" uri="{C3380CC4-5D6E-409C-BE32-E72D297353CC}">
              <c16:uniqueId val="{00000002-0E48-4F47-9A3F-3D1DCF403C63}"/>
            </c:ext>
          </c:extLst>
        </c:ser>
        <c:ser>
          <c:idx val="3"/>
          <c:order val="3"/>
          <c:tx>
            <c:strRef>
              <c:f>'ANOVA, means, tables'!$B$11</c:f>
              <c:strCache>
                <c:ptCount val="1"/>
                <c:pt idx="0">
                  <c:v>control</c:v>
                </c:pt>
              </c:strCache>
            </c:strRef>
          </c:tx>
          <c:spPr>
            <a:ln w="19050" cap="rnd">
              <a:solidFill>
                <a:schemeClr val="accent4"/>
              </a:solidFill>
              <a:round/>
            </a:ln>
            <a:effectLst/>
          </c:spPr>
          <c:marker>
            <c:symbol val="circle"/>
            <c:size val="5"/>
            <c:spPr>
              <a:solidFill>
                <a:schemeClr val="accent4"/>
              </a:solidFill>
              <a:ln w="9525">
                <a:solidFill>
                  <a:schemeClr val="accent4"/>
                </a:solidFill>
              </a:ln>
              <a:effectLst/>
            </c:spPr>
          </c:marker>
          <c:errBars>
            <c:errDir val="y"/>
            <c:errBarType val="both"/>
            <c:errValType val="fixedVal"/>
            <c:noEndCap val="0"/>
            <c:val val="0.35000000000000003"/>
            <c:spPr>
              <a:noFill/>
              <a:ln w="9525" cap="flat" cmpd="sng" algn="ctr">
                <a:solidFill>
                  <a:schemeClr val="tx1">
                    <a:lumMod val="65000"/>
                    <a:lumOff val="35000"/>
                  </a:schemeClr>
                </a:solidFill>
                <a:round/>
              </a:ln>
              <a:effectLst/>
            </c:spPr>
          </c:errBars>
          <c:errBars>
            <c:errDir val="x"/>
            <c:errBarType val="both"/>
            <c:errValType val="fixedVal"/>
            <c:noEndCap val="0"/>
            <c:val val="0"/>
            <c:spPr>
              <a:noFill/>
              <a:ln w="9525" cap="flat" cmpd="sng" algn="ctr">
                <a:solidFill>
                  <a:schemeClr val="tx1">
                    <a:lumMod val="65000"/>
                    <a:lumOff val="35000"/>
                  </a:schemeClr>
                </a:solidFill>
                <a:round/>
              </a:ln>
              <a:effectLst/>
            </c:spPr>
          </c:errBars>
          <c:xVal>
            <c:numRef>
              <c:f>'ANOVA, means, tables'!$C$7:$T$7</c:f>
              <c:numCache>
                <c:formatCode>d\-mmm</c:formatCode>
                <c:ptCount val="18"/>
                <c:pt idx="0">
                  <c:v>46031</c:v>
                </c:pt>
                <c:pt idx="1">
                  <c:v>46038</c:v>
                </c:pt>
                <c:pt idx="2">
                  <c:v>46045</c:v>
                </c:pt>
                <c:pt idx="3">
                  <c:v>46052</c:v>
                </c:pt>
                <c:pt idx="4">
                  <c:v>46059</c:v>
                </c:pt>
                <c:pt idx="5">
                  <c:v>46066</c:v>
                </c:pt>
                <c:pt idx="6">
                  <c:v>46073</c:v>
                </c:pt>
                <c:pt idx="7">
                  <c:v>46080</c:v>
                </c:pt>
                <c:pt idx="8">
                  <c:v>46087</c:v>
                </c:pt>
                <c:pt idx="9">
                  <c:v>46094</c:v>
                </c:pt>
                <c:pt idx="10">
                  <c:v>46101</c:v>
                </c:pt>
                <c:pt idx="11">
                  <c:v>46108</c:v>
                </c:pt>
                <c:pt idx="12">
                  <c:v>46115</c:v>
                </c:pt>
                <c:pt idx="13">
                  <c:v>46122</c:v>
                </c:pt>
                <c:pt idx="14">
                  <c:v>46129</c:v>
                </c:pt>
                <c:pt idx="15">
                  <c:v>46136</c:v>
                </c:pt>
                <c:pt idx="16">
                  <c:v>46143</c:v>
                </c:pt>
                <c:pt idx="17">
                  <c:v>46150</c:v>
                </c:pt>
              </c:numCache>
            </c:numRef>
          </c:xVal>
          <c:yVal>
            <c:numRef>
              <c:f>'ANOVA, means, tables'!$C$11:$T$11</c:f>
              <c:numCache>
                <c:formatCode>0.0</c:formatCode>
                <c:ptCount val="18"/>
                <c:pt idx="0">
                  <c:v>7</c:v>
                </c:pt>
                <c:pt idx="1">
                  <c:v>6</c:v>
                </c:pt>
                <c:pt idx="2">
                  <c:v>5.3333000000000004</c:v>
                </c:pt>
                <c:pt idx="3">
                  <c:v>5</c:v>
                </c:pt>
                <c:pt idx="4">
                  <c:v>4.6666999999999996</c:v>
                </c:pt>
                <c:pt idx="5">
                  <c:v>3.3332999999999999</c:v>
                </c:pt>
                <c:pt idx="6">
                  <c:v>2.3332999999999999</c:v>
                </c:pt>
                <c:pt idx="7">
                  <c:v>1.3332999999999999</c:v>
                </c:pt>
                <c:pt idx="8">
                  <c:v>1</c:v>
                </c:pt>
                <c:pt idx="9">
                  <c:v>1</c:v>
                </c:pt>
                <c:pt idx="10">
                  <c:v>1</c:v>
                </c:pt>
                <c:pt idx="11">
                  <c:v>1</c:v>
                </c:pt>
                <c:pt idx="12">
                  <c:v>1</c:v>
                </c:pt>
                <c:pt idx="13">
                  <c:v>1</c:v>
                </c:pt>
                <c:pt idx="14">
                  <c:v>1</c:v>
                </c:pt>
                <c:pt idx="15">
                  <c:v>1</c:v>
                </c:pt>
                <c:pt idx="16">
                  <c:v>1</c:v>
                </c:pt>
                <c:pt idx="17">
                  <c:v>1</c:v>
                </c:pt>
              </c:numCache>
            </c:numRef>
          </c:yVal>
          <c:smooth val="0"/>
          <c:extLst>
            <c:ext xmlns:c16="http://schemas.microsoft.com/office/drawing/2014/chart" uri="{C3380CC4-5D6E-409C-BE32-E72D297353CC}">
              <c16:uniqueId val="{00000003-0E48-4F47-9A3F-3D1DCF403C63}"/>
            </c:ext>
          </c:extLst>
        </c:ser>
        <c:ser>
          <c:idx val="4"/>
          <c:order val="4"/>
          <c:tx>
            <c:strRef>
              <c:f>'ANOVA, means, tables'!#REF!</c:f>
              <c:strCache>
                <c:ptCount val="1"/>
                <c:pt idx="0">
                  <c:v>#REF!</c:v>
                </c:pt>
              </c:strCache>
            </c:strRef>
          </c:tx>
          <c:spPr>
            <a:ln w="19050" cap="rnd">
              <a:solidFill>
                <a:schemeClr val="accent5"/>
              </a:solidFill>
              <a:round/>
            </a:ln>
            <a:effectLst/>
          </c:spPr>
          <c:marker>
            <c:symbol val="circle"/>
            <c:size val="5"/>
            <c:spPr>
              <a:solidFill>
                <a:schemeClr val="accent5"/>
              </a:solidFill>
              <a:ln w="9525">
                <a:solidFill>
                  <a:schemeClr val="accent5"/>
                </a:solidFill>
              </a:ln>
              <a:effectLst/>
            </c:spPr>
          </c:marker>
          <c:xVal>
            <c:numRef>
              <c:f>'ANOVA, means, tables'!$C$7:$T$7</c:f>
              <c:numCache>
                <c:formatCode>d\-mmm</c:formatCode>
                <c:ptCount val="18"/>
                <c:pt idx="0">
                  <c:v>46031</c:v>
                </c:pt>
                <c:pt idx="1">
                  <c:v>46038</c:v>
                </c:pt>
                <c:pt idx="2">
                  <c:v>46045</c:v>
                </c:pt>
                <c:pt idx="3">
                  <c:v>46052</c:v>
                </c:pt>
                <c:pt idx="4">
                  <c:v>46059</c:v>
                </c:pt>
                <c:pt idx="5">
                  <c:v>46066</c:v>
                </c:pt>
                <c:pt idx="6">
                  <c:v>46073</c:v>
                </c:pt>
                <c:pt idx="7">
                  <c:v>46080</c:v>
                </c:pt>
                <c:pt idx="8">
                  <c:v>46087</c:v>
                </c:pt>
                <c:pt idx="9">
                  <c:v>46094</c:v>
                </c:pt>
                <c:pt idx="10">
                  <c:v>46101</c:v>
                </c:pt>
                <c:pt idx="11">
                  <c:v>46108</c:v>
                </c:pt>
                <c:pt idx="12">
                  <c:v>46115</c:v>
                </c:pt>
                <c:pt idx="13">
                  <c:v>46122</c:v>
                </c:pt>
                <c:pt idx="14">
                  <c:v>46129</c:v>
                </c:pt>
                <c:pt idx="15">
                  <c:v>46136</c:v>
                </c:pt>
                <c:pt idx="16">
                  <c:v>46143</c:v>
                </c:pt>
                <c:pt idx="17">
                  <c:v>46150</c:v>
                </c:pt>
              </c:numCache>
            </c:numRef>
          </c:xVal>
          <c:yVal>
            <c:numRef>
              <c:f>'ANOVA, means, tables'!$D$12:$T$12</c:f>
              <c:numCache>
                <c:formatCode>General</c:formatCode>
                <c:ptCount val="17"/>
              </c:numCache>
            </c:numRef>
          </c:yVal>
          <c:smooth val="0"/>
          <c:extLst>
            <c:ext xmlns:c16="http://schemas.microsoft.com/office/drawing/2014/chart" uri="{C3380CC4-5D6E-409C-BE32-E72D297353CC}">
              <c16:uniqueId val="{00000004-0E48-4F47-9A3F-3D1DCF403C63}"/>
            </c:ext>
          </c:extLst>
        </c:ser>
        <c:dLbls>
          <c:showLegendKey val="0"/>
          <c:showVal val="0"/>
          <c:showCatName val="0"/>
          <c:showSerName val="0"/>
          <c:showPercent val="0"/>
          <c:showBubbleSize val="0"/>
        </c:dLbls>
        <c:axId val="484178559"/>
        <c:axId val="484174239"/>
      </c:scatterChart>
      <c:valAx>
        <c:axId val="484178559"/>
        <c:scaling>
          <c:orientation val="minMax"/>
        </c:scaling>
        <c:delete val="0"/>
        <c:axPos val="b"/>
        <c:majorGridlines>
          <c:spPr>
            <a:ln w="9525" cap="flat" cmpd="sng" algn="ctr">
              <a:solidFill>
                <a:schemeClr val="tx1">
                  <a:lumMod val="15000"/>
                  <a:lumOff val="85000"/>
                </a:schemeClr>
              </a:solidFill>
              <a:round/>
            </a:ln>
            <a:effectLst/>
          </c:spPr>
        </c:majorGridlines>
        <c:numFmt formatCode="d\-mmm"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endParaRPr lang="en-US"/>
          </a:p>
        </c:txPr>
        <c:crossAx val="484174239"/>
        <c:crosses val="autoZero"/>
        <c:crossBetween val="midCat"/>
      </c:valAx>
      <c:valAx>
        <c:axId val="484174239"/>
        <c:scaling>
          <c:orientation val="minMax"/>
          <c:max val="9"/>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r>
                  <a:rPr lang="en-US"/>
                  <a:t>Visual quality (1 = dead, 9 = greatest quality possible)</a:t>
                </a:r>
              </a:p>
            </c:rich>
          </c:tx>
          <c:layout>
            <c:manualLayout>
              <c:xMode val="edge"/>
              <c:yMode val="edge"/>
              <c:x val="2.1200990567500543E-2"/>
              <c:y val="0.11233791603631745"/>
            </c:manualLayout>
          </c:layout>
          <c:overlay val="0"/>
          <c:spPr>
            <a:noFill/>
            <a:ln>
              <a:noFill/>
            </a:ln>
            <a:effectLst/>
          </c:spPr>
          <c:txPr>
            <a:bodyPr rot="-540000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endParaRPr lang="en-US"/>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endParaRPr lang="en-US"/>
          </a:p>
        </c:txPr>
        <c:crossAx val="484178559"/>
        <c:crosses val="autoZero"/>
        <c:crossBetween val="midCat"/>
      </c:valAx>
      <c:spPr>
        <a:noFill/>
        <a:ln>
          <a:noFill/>
        </a:ln>
        <a:effectLst/>
      </c:spPr>
    </c:plotArea>
    <c:legend>
      <c:legendPos val="b"/>
      <c:legendEntry>
        <c:idx val="4"/>
        <c:delete val="1"/>
      </c:legendEntry>
      <c:layout>
        <c:manualLayout>
          <c:xMode val="edge"/>
          <c:yMode val="edge"/>
          <c:x val="0.25405394037283796"/>
          <c:y val="0.12269047812322428"/>
          <c:w val="0.59035339610995674"/>
          <c:h val="6.0773288534778237E-2"/>
        </c:manualLayout>
      </c:layout>
      <c:overlay val="0"/>
      <c:spPr>
        <a:noFill/>
        <a:ln>
          <a:noFill/>
        </a:ln>
        <a:effectLst/>
      </c:spPr>
      <c:txPr>
        <a:bodyPr rot="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0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600" b="0" i="0" u="none" strike="noStrike" kern="1200" spc="0" baseline="0">
                <a:solidFill>
                  <a:schemeClr val="tx1">
                    <a:lumMod val="65000"/>
                    <a:lumOff val="35000"/>
                  </a:schemeClr>
                </a:solidFill>
                <a:latin typeface="+mn-lt"/>
                <a:ea typeface="+mn-ea"/>
                <a:cs typeface="+mn-cs"/>
              </a:defRPr>
            </a:pPr>
            <a:r>
              <a:rPr lang="en-US" dirty="0"/>
              <a:t>B: SAGE (kPa) threshold value when irrigation was applied</a:t>
            </a:r>
          </a:p>
        </c:rich>
      </c:tx>
      <c:layout>
        <c:manualLayout>
          <c:xMode val="edge"/>
          <c:yMode val="edge"/>
          <c:x val="0.23704707584628845"/>
          <c:y val="1.6579594853199625E-2"/>
        </c:manualLayout>
      </c:layout>
      <c:overlay val="0"/>
      <c:spPr>
        <a:noFill/>
        <a:ln>
          <a:noFill/>
        </a:ln>
        <a:effectLst/>
      </c:spPr>
      <c:txPr>
        <a:bodyPr rot="0" spcFirstLastPara="1" vertOverflow="ellipsis" vert="horz" wrap="square" anchor="ctr" anchorCtr="1"/>
        <a:lstStyle/>
        <a:p>
          <a:pPr>
            <a:defRPr sz="36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7021469295853645"/>
          <c:y val="0.18042724688767228"/>
          <c:w val="0.77956626676846885"/>
          <c:h val="0.65346591009591992"/>
        </c:manualLayout>
      </c:layout>
      <c:scatterChart>
        <c:scatterStyle val="lineMarker"/>
        <c:varyColors val="0"/>
        <c:ser>
          <c:idx val="0"/>
          <c:order val="0"/>
          <c:tx>
            <c:strRef>
              <c:f>'ANOVA, means, tables'!$B$40</c:f>
              <c:strCache>
                <c:ptCount val="1"/>
                <c:pt idx="0">
                  <c:v>40-50</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'ANOVA, means, tables'!$C$39:$T$39</c:f>
              <c:numCache>
                <c:formatCode>d\-mmm</c:formatCode>
                <c:ptCount val="18"/>
                <c:pt idx="0">
                  <c:v>46031</c:v>
                </c:pt>
                <c:pt idx="1">
                  <c:v>46038</c:v>
                </c:pt>
                <c:pt idx="2">
                  <c:v>46045</c:v>
                </c:pt>
                <c:pt idx="3">
                  <c:v>46052</c:v>
                </c:pt>
                <c:pt idx="4">
                  <c:v>46059</c:v>
                </c:pt>
                <c:pt idx="5">
                  <c:v>46066</c:v>
                </c:pt>
                <c:pt idx="6">
                  <c:v>46073</c:v>
                </c:pt>
                <c:pt idx="7">
                  <c:v>46080</c:v>
                </c:pt>
                <c:pt idx="8">
                  <c:v>46087</c:v>
                </c:pt>
                <c:pt idx="9">
                  <c:v>46094</c:v>
                </c:pt>
                <c:pt idx="10">
                  <c:v>46101</c:v>
                </c:pt>
                <c:pt idx="11">
                  <c:v>46108</c:v>
                </c:pt>
                <c:pt idx="12">
                  <c:v>46115</c:v>
                </c:pt>
                <c:pt idx="13">
                  <c:v>46122</c:v>
                </c:pt>
                <c:pt idx="14">
                  <c:v>46129</c:v>
                </c:pt>
                <c:pt idx="15">
                  <c:v>46136</c:v>
                </c:pt>
                <c:pt idx="16">
                  <c:v>46143</c:v>
                </c:pt>
                <c:pt idx="17">
                  <c:v>46150</c:v>
                </c:pt>
              </c:numCache>
            </c:numRef>
          </c:xVal>
          <c:yVal>
            <c:numRef>
              <c:f>'ANOVA, means, tables'!$C$40:$T$40</c:f>
              <c:numCache>
                <c:formatCode>General</c:formatCode>
                <c:ptCount val="18"/>
                <c:pt idx="0">
                  <c:v>0.84330000000000005</c:v>
                </c:pt>
                <c:pt idx="1">
                  <c:v>0.83330000000000004</c:v>
                </c:pt>
                <c:pt idx="2">
                  <c:v>0.86329999999999996</c:v>
                </c:pt>
                <c:pt idx="3">
                  <c:v>0.83330000000000004</c:v>
                </c:pt>
                <c:pt idx="4">
                  <c:v>0.88</c:v>
                </c:pt>
                <c:pt idx="5">
                  <c:v>0.84670000000000001</c:v>
                </c:pt>
                <c:pt idx="6">
                  <c:v>0.89329999999999998</c:v>
                </c:pt>
                <c:pt idx="7">
                  <c:v>0.86329999999999996</c:v>
                </c:pt>
                <c:pt idx="8">
                  <c:v>0.87</c:v>
                </c:pt>
                <c:pt idx="9">
                  <c:v>0.87329999999999997</c:v>
                </c:pt>
                <c:pt idx="10">
                  <c:v>0.86670000000000003</c:v>
                </c:pt>
                <c:pt idx="11">
                  <c:v>0.8367</c:v>
                </c:pt>
                <c:pt idx="12">
                  <c:v>0.77329999999999999</c:v>
                </c:pt>
                <c:pt idx="13">
                  <c:v>0.85</c:v>
                </c:pt>
                <c:pt idx="14">
                  <c:v>0.88670000000000004</c:v>
                </c:pt>
                <c:pt idx="15">
                  <c:v>0.92669999999999997</c:v>
                </c:pt>
                <c:pt idx="16">
                  <c:v>0.89329999999999998</c:v>
                </c:pt>
                <c:pt idx="17">
                  <c:v>0.89</c:v>
                </c:pt>
              </c:numCache>
            </c:numRef>
          </c:yVal>
          <c:smooth val="0"/>
          <c:extLst>
            <c:ext xmlns:c16="http://schemas.microsoft.com/office/drawing/2014/chart" uri="{C3380CC4-5D6E-409C-BE32-E72D297353CC}">
              <c16:uniqueId val="{00000000-65FF-45C4-9C7F-924D1C3BAA97}"/>
            </c:ext>
          </c:extLst>
        </c:ser>
        <c:ser>
          <c:idx val="1"/>
          <c:order val="1"/>
          <c:tx>
            <c:strRef>
              <c:f>'ANOVA, means, tables'!$B$41</c:f>
              <c:strCache>
                <c:ptCount val="1"/>
                <c:pt idx="0">
                  <c:v>50-60</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'ANOVA, means, tables'!$C$39:$T$39</c:f>
              <c:numCache>
                <c:formatCode>d\-mmm</c:formatCode>
                <c:ptCount val="18"/>
                <c:pt idx="0">
                  <c:v>46031</c:v>
                </c:pt>
                <c:pt idx="1">
                  <c:v>46038</c:v>
                </c:pt>
                <c:pt idx="2">
                  <c:v>46045</c:v>
                </c:pt>
                <c:pt idx="3">
                  <c:v>46052</c:v>
                </c:pt>
                <c:pt idx="4">
                  <c:v>46059</c:v>
                </c:pt>
                <c:pt idx="5">
                  <c:v>46066</c:v>
                </c:pt>
                <c:pt idx="6">
                  <c:v>46073</c:v>
                </c:pt>
                <c:pt idx="7">
                  <c:v>46080</c:v>
                </c:pt>
                <c:pt idx="8">
                  <c:v>46087</c:v>
                </c:pt>
                <c:pt idx="9">
                  <c:v>46094</c:v>
                </c:pt>
                <c:pt idx="10">
                  <c:v>46101</c:v>
                </c:pt>
                <c:pt idx="11">
                  <c:v>46108</c:v>
                </c:pt>
                <c:pt idx="12">
                  <c:v>46115</c:v>
                </c:pt>
                <c:pt idx="13">
                  <c:v>46122</c:v>
                </c:pt>
                <c:pt idx="14">
                  <c:v>46129</c:v>
                </c:pt>
                <c:pt idx="15">
                  <c:v>46136</c:v>
                </c:pt>
                <c:pt idx="16">
                  <c:v>46143</c:v>
                </c:pt>
                <c:pt idx="17">
                  <c:v>46150</c:v>
                </c:pt>
              </c:numCache>
            </c:numRef>
          </c:xVal>
          <c:yVal>
            <c:numRef>
              <c:f>'ANOVA, means, tables'!$C$41:$T$41</c:f>
              <c:numCache>
                <c:formatCode>General</c:formatCode>
                <c:ptCount val="18"/>
                <c:pt idx="0">
                  <c:v>0.85329999999999995</c:v>
                </c:pt>
                <c:pt idx="1">
                  <c:v>0.84330000000000005</c:v>
                </c:pt>
                <c:pt idx="2">
                  <c:v>0.86329999999999996</c:v>
                </c:pt>
                <c:pt idx="3">
                  <c:v>0.85670000000000002</c:v>
                </c:pt>
                <c:pt idx="4">
                  <c:v>0.89329999999999998</c:v>
                </c:pt>
                <c:pt idx="5">
                  <c:v>0.85</c:v>
                </c:pt>
                <c:pt idx="6">
                  <c:v>0.84670000000000001</c:v>
                </c:pt>
                <c:pt idx="7">
                  <c:v>0.88</c:v>
                </c:pt>
                <c:pt idx="8">
                  <c:v>0.89670000000000005</c:v>
                </c:pt>
                <c:pt idx="9">
                  <c:v>0.88</c:v>
                </c:pt>
                <c:pt idx="10">
                  <c:v>0.88329999999999997</c:v>
                </c:pt>
                <c:pt idx="11">
                  <c:v>0.86670000000000003</c:v>
                </c:pt>
                <c:pt idx="12">
                  <c:v>0.83</c:v>
                </c:pt>
                <c:pt idx="13">
                  <c:v>0.87670000000000003</c:v>
                </c:pt>
                <c:pt idx="14">
                  <c:v>0.89</c:v>
                </c:pt>
                <c:pt idx="15">
                  <c:v>0.89329999999999998</c:v>
                </c:pt>
                <c:pt idx="16">
                  <c:v>0.89329999999999998</c:v>
                </c:pt>
                <c:pt idx="17">
                  <c:v>0.89</c:v>
                </c:pt>
              </c:numCache>
            </c:numRef>
          </c:yVal>
          <c:smooth val="0"/>
          <c:extLst>
            <c:ext xmlns:c16="http://schemas.microsoft.com/office/drawing/2014/chart" uri="{C3380CC4-5D6E-409C-BE32-E72D297353CC}">
              <c16:uniqueId val="{00000001-65FF-45C4-9C7F-924D1C3BAA97}"/>
            </c:ext>
          </c:extLst>
        </c:ser>
        <c:ser>
          <c:idx val="2"/>
          <c:order val="2"/>
          <c:tx>
            <c:strRef>
              <c:f>'ANOVA, means, tables'!$B$42</c:f>
              <c:strCache>
                <c:ptCount val="1"/>
                <c:pt idx="0">
                  <c:v>60-80</c:v>
                </c:pt>
              </c:strCache>
            </c:strRef>
          </c:tx>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'ANOVA, means, tables'!$C$39:$T$39</c:f>
              <c:numCache>
                <c:formatCode>d\-mmm</c:formatCode>
                <c:ptCount val="18"/>
                <c:pt idx="0">
                  <c:v>46031</c:v>
                </c:pt>
                <c:pt idx="1">
                  <c:v>46038</c:v>
                </c:pt>
                <c:pt idx="2">
                  <c:v>46045</c:v>
                </c:pt>
                <c:pt idx="3">
                  <c:v>46052</c:v>
                </c:pt>
                <c:pt idx="4">
                  <c:v>46059</c:v>
                </c:pt>
                <c:pt idx="5">
                  <c:v>46066</c:v>
                </c:pt>
                <c:pt idx="6">
                  <c:v>46073</c:v>
                </c:pt>
                <c:pt idx="7">
                  <c:v>46080</c:v>
                </c:pt>
                <c:pt idx="8">
                  <c:v>46087</c:v>
                </c:pt>
                <c:pt idx="9">
                  <c:v>46094</c:v>
                </c:pt>
                <c:pt idx="10">
                  <c:v>46101</c:v>
                </c:pt>
                <c:pt idx="11">
                  <c:v>46108</c:v>
                </c:pt>
                <c:pt idx="12">
                  <c:v>46115</c:v>
                </c:pt>
                <c:pt idx="13">
                  <c:v>46122</c:v>
                </c:pt>
                <c:pt idx="14">
                  <c:v>46129</c:v>
                </c:pt>
                <c:pt idx="15">
                  <c:v>46136</c:v>
                </c:pt>
                <c:pt idx="16">
                  <c:v>46143</c:v>
                </c:pt>
                <c:pt idx="17">
                  <c:v>46150</c:v>
                </c:pt>
              </c:numCache>
            </c:numRef>
          </c:xVal>
          <c:yVal>
            <c:numRef>
              <c:f>'ANOVA, means, tables'!$C$42:$T$42</c:f>
              <c:numCache>
                <c:formatCode>General</c:formatCode>
                <c:ptCount val="18"/>
                <c:pt idx="0">
                  <c:v>0.83330000000000004</c:v>
                </c:pt>
                <c:pt idx="1">
                  <c:v>0.85670000000000002</c:v>
                </c:pt>
                <c:pt idx="2">
                  <c:v>0.89</c:v>
                </c:pt>
                <c:pt idx="3">
                  <c:v>0.86329999999999996</c:v>
                </c:pt>
                <c:pt idx="4">
                  <c:v>0.88329999999999997</c:v>
                </c:pt>
                <c:pt idx="5">
                  <c:v>0.84670000000000001</c:v>
                </c:pt>
                <c:pt idx="6">
                  <c:v>0.88670000000000004</c:v>
                </c:pt>
                <c:pt idx="7">
                  <c:v>0.87670000000000003</c:v>
                </c:pt>
                <c:pt idx="8">
                  <c:v>0.89</c:v>
                </c:pt>
                <c:pt idx="9">
                  <c:v>0.87670000000000003</c:v>
                </c:pt>
                <c:pt idx="10">
                  <c:v>0.88</c:v>
                </c:pt>
                <c:pt idx="11">
                  <c:v>0.81</c:v>
                </c:pt>
                <c:pt idx="12">
                  <c:v>0.82330000000000003</c:v>
                </c:pt>
                <c:pt idx="13">
                  <c:v>0.85</c:v>
                </c:pt>
                <c:pt idx="14">
                  <c:v>0.85670000000000002</c:v>
                </c:pt>
                <c:pt idx="15">
                  <c:v>0.88329999999999997</c:v>
                </c:pt>
                <c:pt idx="16">
                  <c:v>0.86</c:v>
                </c:pt>
                <c:pt idx="17">
                  <c:v>0.87670000000000003</c:v>
                </c:pt>
              </c:numCache>
            </c:numRef>
          </c:yVal>
          <c:smooth val="0"/>
          <c:extLst>
            <c:ext xmlns:c16="http://schemas.microsoft.com/office/drawing/2014/chart" uri="{C3380CC4-5D6E-409C-BE32-E72D297353CC}">
              <c16:uniqueId val="{00000002-65FF-45C4-9C7F-924D1C3BAA97}"/>
            </c:ext>
          </c:extLst>
        </c:ser>
        <c:ser>
          <c:idx val="3"/>
          <c:order val="3"/>
          <c:tx>
            <c:strRef>
              <c:f>'ANOVA, means, tables'!$B$43</c:f>
              <c:strCache>
                <c:ptCount val="1"/>
                <c:pt idx="0">
                  <c:v>control</c:v>
                </c:pt>
              </c:strCache>
            </c:strRef>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'ANOVA, means, tables'!$C$39:$T$39</c:f>
              <c:numCache>
                <c:formatCode>d\-mmm</c:formatCode>
                <c:ptCount val="18"/>
                <c:pt idx="0">
                  <c:v>46031</c:v>
                </c:pt>
                <c:pt idx="1">
                  <c:v>46038</c:v>
                </c:pt>
                <c:pt idx="2">
                  <c:v>46045</c:v>
                </c:pt>
                <c:pt idx="3">
                  <c:v>46052</c:v>
                </c:pt>
                <c:pt idx="4">
                  <c:v>46059</c:v>
                </c:pt>
                <c:pt idx="5">
                  <c:v>46066</c:v>
                </c:pt>
                <c:pt idx="6">
                  <c:v>46073</c:v>
                </c:pt>
                <c:pt idx="7">
                  <c:v>46080</c:v>
                </c:pt>
                <c:pt idx="8">
                  <c:v>46087</c:v>
                </c:pt>
                <c:pt idx="9">
                  <c:v>46094</c:v>
                </c:pt>
                <c:pt idx="10">
                  <c:v>46101</c:v>
                </c:pt>
                <c:pt idx="11">
                  <c:v>46108</c:v>
                </c:pt>
                <c:pt idx="12">
                  <c:v>46115</c:v>
                </c:pt>
                <c:pt idx="13">
                  <c:v>46122</c:v>
                </c:pt>
                <c:pt idx="14">
                  <c:v>46129</c:v>
                </c:pt>
                <c:pt idx="15">
                  <c:v>46136</c:v>
                </c:pt>
                <c:pt idx="16">
                  <c:v>46143</c:v>
                </c:pt>
                <c:pt idx="17">
                  <c:v>46150</c:v>
                </c:pt>
              </c:numCache>
            </c:numRef>
          </c:xVal>
          <c:yVal>
            <c:numRef>
              <c:f>'ANOVA, means, tables'!$C$43:$T$43</c:f>
              <c:numCache>
                <c:formatCode>General</c:formatCode>
                <c:ptCount val="18"/>
                <c:pt idx="0">
                  <c:v>0.84330000000000005</c:v>
                </c:pt>
                <c:pt idx="1">
                  <c:v>0.84670000000000001</c:v>
                </c:pt>
                <c:pt idx="2">
                  <c:v>0.87329999999999997</c:v>
                </c:pt>
                <c:pt idx="3">
                  <c:v>0.86</c:v>
                </c:pt>
                <c:pt idx="4">
                  <c:v>0.85329999999999995</c:v>
                </c:pt>
                <c:pt idx="5">
                  <c:v>0.77329999999999999</c:v>
                </c:pt>
                <c:pt idx="6">
                  <c:v>0.70330000000000004</c:v>
                </c:pt>
                <c:pt idx="7">
                  <c:v>0.69</c:v>
                </c:pt>
                <c:pt idx="8">
                  <c:v>0.65</c:v>
                </c:pt>
                <c:pt idx="9">
                  <c:v>0.57999999999999996</c:v>
                </c:pt>
                <c:pt idx="10">
                  <c:v>0.59330000000000005</c:v>
                </c:pt>
                <c:pt idx="11">
                  <c:v>0.60329999999999995</c:v>
                </c:pt>
                <c:pt idx="12">
                  <c:v>0.49330000000000002</c:v>
                </c:pt>
                <c:pt idx="13">
                  <c:v>0.52669999999999995</c:v>
                </c:pt>
                <c:pt idx="14">
                  <c:v>0.44669999999999999</c:v>
                </c:pt>
                <c:pt idx="15">
                  <c:v>0.54</c:v>
                </c:pt>
                <c:pt idx="16">
                  <c:v>0.53669999999999995</c:v>
                </c:pt>
                <c:pt idx="17">
                  <c:v>0.51329999999999998</c:v>
                </c:pt>
              </c:numCache>
            </c:numRef>
          </c:yVal>
          <c:smooth val="0"/>
          <c:extLst>
            <c:ext xmlns:c16="http://schemas.microsoft.com/office/drawing/2014/chart" uri="{C3380CC4-5D6E-409C-BE32-E72D297353CC}">
              <c16:uniqueId val="{00000003-65FF-45C4-9C7F-924D1C3BAA97}"/>
            </c:ext>
          </c:extLst>
        </c:ser>
        <c:dLbls>
          <c:showLegendKey val="0"/>
          <c:showVal val="0"/>
          <c:showCatName val="0"/>
          <c:showSerName val="0"/>
          <c:showPercent val="0"/>
          <c:showBubbleSize val="0"/>
        </c:dLbls>
        <c:axId val="807688703"/>
        <c:axId val="807689183"/>
      </c:scatterChart>
      <c:valAx>
        <c:axId val="807688703"/>
        <c:scaling>
          <c:orientation val="minMax"/>
        </c:scaling>
        <c:delete val="0"/>
        <c:axPos val="b"/>
        <c:majorGridlines>
          <c:spPr>
            <a:ln w="9525" cap="flat" cmpd="sng" algn="ctr">
              <a:solidFill>
                <a:schemeClr val="tx1">
                  <a:lumMod val="15000"/>
                  <a:lumOff val="85000"/>
                </a:schemeClr>
              </a:solidFill>
              <a:round/>
            </a:ln>
            <a:effectLst/>
          </c:spPr>
        </c:majorGridlines>
        <c:numFmt formatCode="d\-mmm"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endParaRPr lang="en-US"/>
          </a:p>
        </c:txPr>
        <c:crossAx val="807689183"/>
        <c:crossesAt val="0"/>
        <c:crossBetween val="midCat"/>
      </c:valAx>
      <c:valAx>
        <c:axId val="8076891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r>
                  <a:rPr lang="en-US"/>
                  <a:t>normalized difference vegitation index (NDVI)</a:t>
                </a:r>
              </a:p>
            </c:rich>
          </c:tx>
          <c:layout>
            <c:manualLayout>
              <c:xMode val="edge"/>
              <c:yMode val="edge"/>
              <c:x val="1.865165892724948E-2"/>
              <c:y val="0.117240219066474"/>
            </c:manualLayout>
          </c:layout>
          <c:overlay val="0"/>
          <c:spPr>
            <a:noFill/>
            <a:ln>
              <a:noFill/>
            </a:ln>
            <a:effectLst/>
          </c:spPr>
          <c:txPr>
            <a:bodyPr rot="-540000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endParaRPr lang="en-US"/>
          </a:p>
        </c:txPr>
        <c:crossAx val="807688703"/>
        <c:crosses val="autoZero"/>
        <c:crossBetween val="midCat"/>
      </c:valAx>
      <c:spPr>
        <a:noFill/>
        <a:ln>
          <a:noFill/>
        </a:ln>
        <a:effectLst/>
      </c:spPr>
    </c:plotArea>
    <c:legend>
      <c:legendPos val="b"/>
      <c:layout>
        <c:manualLayout>
          <c:xMode val="edge"/>
          <c:yMode val="edge"/>
          <c:x val="0.20820933441012182"/>
          <c:y val="0.10124404041253714"/>
          <c:w val="0.63901019584090446"/>
          <c:h val="5.5571303587845219E-2"/>
        </c:manualLayout>
      </c:layout>
      <c:overlay val="0"/>
      <c:spPr>
        <a:noFill/>
        <a:ln>
          <a:noFill/>
        </a:ln>
        <a:effectLst/>
      </c:spPr>
      <c:txPr>
        <a:bodyPr rot="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0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600" b="0" i="0" u="none" strike="noStrike" kern="1200" spc="0" baseline="0">
                <a:solidFill>
                  <a:schemeClr val="tx1">
                    <a:lumMod val="65000"/>
                    <a:lumOff val="35000"/>
                  </a:schemeClr>
                </a:solidFill>
                <a:latin typeface="+mn-lt"/>
                <a:ea typeface="+mn-ea"/>
                <a:cs typeface="+mn-cs"/>
              </a:defRPr>
            </a:pPr>
            <a:r>
              <a:rPr lang="en-US" dirty="0"/>
              <a:t>C: SAGE (kPa) threshold value when irrigation was applied</a:t>
            </a:r>
          </a:p>
        </c:rich>
      </c:tx>
      <c:overlay val="0"/>
      <c:spPr>
        <a:noFill/>
        <a:ln>
          <a:noFill/>
        </a:ln>
        <a:effectLst/>
      </c:spPr>
      <c:txPr>
        <a:bodyPr rot="0" spcFirstLastPara="1" vertOverflow="ellipsis" vert="horz" wrap="square" anchor="ctr" anchorCtr="1"/>
        <a:lstStyle/>
        <a:p>
          <a:pPr>
            <a:defRPr sz="36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916330170267177"/>
          <c:y val="0.21943026000468477"/>
          <c:w val="0.800228953721145"/>
          <c:h val="0.64625993261139836"/>
        </c:manualLayout>
      </c:layout>
      <c:scatterChart>
        <c:scatterStyle val="lineMarker"/>
        <c:varyColors val="0"/>
        <c:ser>
          <c:idx val="0"/>
          <c:order val="0"/>
          <c:tx>
            <c:strRef>
              <c:f>'Raw data'!$M$654</c:f>
              <c:strCache>
                <c:ptCount val="1"/>
                <c:pt idx="0">
                  <c:v>40-50</c:v>
                </c:pt>
              </c:strCache>
            </c:strRef>
          </c:tx>
          <c:spPr>
            <a:ln w="38100" cap="rnd">
              <a:noFill/>
              <a:round/>
            </a:ln>
            <a:effectLst/>
          </c:spPr>
          <c:marker>
            <c:symbol val="circle"/>
            <c:size val="5"/>
            <c:spPr>
              <a:solidFill>
                <a:schemeClr val="accent1"/>
              </a:solidFill>
              <a:ln w="9525">
                <a:solidFill>
                  <a:schemeClr val="accent1"/>
                </a:solidFill>
              </a:ln>
              <a:effectLst/>
            </c:spPr>
          </c:marker>
          <c:xVal>
            <c:numRef>
              <c:f>'Raw data'!$L$655:$L$708</c:f>
              <c:numCache>
                <c:formatCode>[$-409]d\-mmm\-yy;@</c:formatCode>
                <c:ptCount val="54"/>
                <c:pt idx="0">
                  <c:v>46027</c:v>
                </c:pt>
                <c:pt idx="1">
                  <c:v>46029</c:v>
                </c:pt>
                <c:pt idx="2">
                  <c:v>46031</c:v>
                </c:pt>
                <c:pt idx="3">
                  <c:v>46034</c:v>
                </c:pt>
                <c:pt idx="4">
                  <c:v>46036</c:v>
                </c:pt>
                <c:pt idx="5">
                  <c:v>46038</c:v>
                </c:pt>
                <c:pt idx="6">
                  <c:v>46041</c:v>
                </c:pt>
                <c:pt idx="7">
                  <c:v>46043</c:v>
                </c:pt>
                <c:pt idx="8">
                  <c:v>46045</c:v>
                </c:pt>
                <c:pt idx="9">
                  <c:v>46048</c:v>
                </c:pt>
                <c:pt idx="10">
                  <c:v>46050</c:v>
                </c:pt>
                <c:pt idx="11">
                  <c:v>46052</c:v>
                </c:pt>
                <c:pt idx="12">
                  <c:v>46055</c:v>
                </c:pt>
                <c:pt idx="13">
                  <c:v>46057</c:v>
                </c:pt>
                <c:pt idx="14">
                  <c:v>46059</c:v>
                </c:pt>
                <c:pt idx="15">
                  <c:v>46062</c:v>
                </c:pt>
                <c:pt idx="16">
                  <c:v>46064</c:v>
                </c:pt>
                <c:pt idx="17">
                  <c:v>46066</c:v>
                </c:pt>
                <c:pt idx="18">
                  <c:v>46069</c:v>
                </c:pt>
                <c:pt idx="19">
                  <c:v>46071</c:v>
                </c:pt>
                <c:pt idx="20">
                  <c:v>46073</c:v>
                </c:pt>
                <c:pt idx="21">
                  <c:v>46076</c:v>
                </c:pt>
                <c:pt idx="22">
                  <c:v>46078</c:v>
                </c:pt>
                <c:pt idx="23">
                  <c:v>46080</c:v>
                </c:pt>
                <c:pt idx="24">
                  <c:v>46083</c:v>
                </c:pt>
                <c:pt idx="25">
                  <c:v>46085</c:v>
                </c:pt>
                <c:pt idx="26">
                  <c:v>46087</c:v>
                </c:pt>
                <c:pt idx="27">
                  <c:v>46090</c:v>
                </c:pt>
                <c:pt idx="28">
                  <c:v>46092</c:v>
                </c:pt>
                <c:pt idx="29">
                  <c:v>46094</c:v>
                </c:pt>
                <c:pt idx="30">
                  <c:v>46097</c:v>
                </c:pt>
                <c:pt idx="31">
                  <c:v>46099</c:v>
                </c:pt>
                <c:pt idx="32">
                  <c:v>46101</c:v>
                </c:pt>
                <c:pt idx="33">
                  <c:v>46104</c:v>
                </c:pt>
                <c:pt idx="34">
                  <c:v>46106</c:v>
                </c:pt>
                <c:pt idx="35">
                  <c:v>46108</c:v>
                </c:pt>
                <c:pt idx="36">
                  <c:v>46111</c:v>
                </c:pt>
                <c:pt idx="37">
                  <c:v>46113</c:v>
                </c:pt>
                <c:pt idx="38">
                  <c:v>46115</c:v>
                </c:pt>
                <c:pt idx="39">
                  <c:v>46118</c:v>
                </c:pt>
                <c:pt idx="40">
                  <c:v>46120</c:v>
                </c:pt>
                <c:pt idx="41">
                  <c:v>46122</c:v>
                </c:pt>
                <c:pt idx="42">
                  <c:v>46125</c:v>
                </c:pt>
                <c:pt idx="43">
                  <c:v>46127</c:v>
                </c:pt>
                <c:pt idx="44">
                  <c:v>46129</c:v>
                </c:pt>
                <c:pt idx="45">
                  <c:v>46132</c:v>
                </c:pt>
                <c:pt idx="46">
                  <c:v>46134</c:v>
                </c:pt>
                <c:pt idx="47">
                  <c:v>46136</c:v>
                </c:pt>
                <c:pt idx="48">
                  <c:v>46139</c:v>
                </c:pt>
                <c:pt idx="49">
                  <c:v>46141</c:v>
                </c:pt>
                <c:pt idx="50">
                  <c:v>46143</c:v>
                </c:pt>
                <c:pt idx="51">
                  <c:v>46146</c:v>
                </c:pt>
                <c:pt idx="52">
                  <c:v>46149</c:v>
                </c:pt>
                <c:pt idx="53">
                  <c:v>46150</c:v>
                </c:pt>
              </c:numCache>
            </c:numRef>
          </c:xVal>
          <c:yVal>
            <c:numRef>
              <c:f>'Raw data'!$M$655:$M$708</c:f>
              <c:numCache>
                <c:formatCode>0.0</c:formatCode>
                <c:ptCount val="54"/>
                <c:pt idx="0">
                  <c:v>17.149999999999999</c:v>
                </c:pt>
                <c:pt idx="1">
                  <c:v>13.05</c:v>
                </c:pt>
                <c:pt idx="2">
                  <c:v>15.5</c:v>
                </c:pt>
                <c:pt idx="3">
                  <c:v>12.25</c:v>
                </c:pt>
                <c:pt idx="4">
                  <c:v>16.950000000000003</c:v>
                </c:pt>
                <c:pt idx="5">
                  <c:v>11.85</c:v>
                </c:pt>
                <c:pt idx="6">
                  <c:v>10.85</c:v>
                </c:pt>
                <c:pt idx="7">
                  <c:v>15.75</c:v>
                </c:pt>
                <c:pt idx="8">
                  <c:v>9.75</c:v>
                </c:pt>
                <c:pt idx="9">
                  <c:v>8.8999999999999986</c:v>
                </c:pt>
                <c:pt idx="10">
                  <c:v>13.6</c:v>
                </c:pt>
                <c:pt idx="11">
                  <c:v>15.333333333333334</c:v>
                </c:pt>
                <c:pt idx="12">
                  <c:v>7.8666666666666671</c:v>
                </c:pt>
                <c:pt idx="13">
                  <c:v>13.233333333333333</c:v>
                </c:pt>
                <c:pt idx="14">
                  <c:v>10</c:v>
                </c:pt>
                <c:pt idx="15">
                  <c:v>10.466666666666667</c:v>
                </c:pt>
                <c:pt idx="16">
                  <c:v>12.699999999999998</c:v>
                </c:pt>
                <c:pt idx="17">
                  <c:v>8.9333333333333318</c:v>
                </c:pt>
                <c:pt idx="18">
                  <c:v>7.8666666666666671</c:v>
                </c:pt>
                <c:pt idx="19">
                  <c:v>12.799999999999999</c:v>
                </c:pt>
                <c:pt idx="20">
                  <c:v>12.299999999999999</c:v>
                </c:pt>
                <c:pt idx="21">
                  <c:v>9.2999999999999989</c:v>
                </c:pt>
                <c:pt idx="22">
                  <c:v>18.066666666666666</c:v>
                </c:pt>
                <c:pt idx="23">
                  <c:v>10.966666666666669</c:v>
                </c:pt>
                <c:pt idx="24">
                  <c:v>9</c:v>
                </c:pt>
                <c:pt idx="25">
                  <c:v>17.333333333333332</c:v>
                </c:pt>
                <c:pt idx="26">
                  <c:v>12</c:v>
                </c:pt>
                <c:pt idx="27">
                  <c:v>7.1333333333333329</c:v>
                </c:pt>
                <c:pt idx="28">
                  <c:v>14.433333333333332</c:v>
                </c:pt>
                <c:pt idx="29">
                  <c:v>12.700000000000001</c:v>
                </c:pt>
                <c:pt idx="30">
                  <c:v>8.4666666666666668</c:v>
                </c:pt>
                <c:pt idx="31">
                  <c:v>13.533333333333333</c:v>
                </c:pt>
                <c:pt idx="32">
                  <c:v>10.633333333333333</c:v>
                </c:pt>
                <c:pt idx="33">
                  <c:v>7.9333333333333336</c:v>
                </c:pt>
                <c:pt idx="34">
                  <c:v>15.166666666666666</c:v>
                </c:pt>
                <c:pt idx="35">
                  <c:v>8.0666666666666682</c:v>
                </c:pt>
                <c:pt idx="36">
                  <c:v>6.333333333333333</c:v>
                </c:pt>
                <c:pt idx="37">
                  <c:v>13.533333333333333</c:v>
                </c:pt>
                <c:pt idx="38">
                  <c:v>12.166666666666666</c:v>
                </c:pt>
                <c:pt idx="39">
                  <c:v>6.833333333333333</c:v>
                </c:pt>
                <c:pt idx="40">
                  <c:v>11.199999999999998</c:v>
                </c:pt>
                <c:pt idx="41">
                  <c:v>9.3666666666666671</c:v>
                </c:pt>
                <c:pt idx="42">
                  <c:v>8.0666666666666664</c:v>
                </c:pt>
                <c:pt idx="43">
                  <c:v>17.866666666666667</c:v>
                </c:pt>
                <c:pt idx="44">
                  <c:v>11.700000000000001</c:v>
                </c:pt>
                <c:pt idx="45">
                  <c:v>8.0666666666666664</c:v>
                </c:pt>
                <c:pt idx="46">
                  <c:v>16.400000000000002</c:v>
                </c:pt>
                <c:pt idx="47">
                  <c:v>12.833333333333334</c:v>
                </c:pt>
                <c:pt idx="48">
                  <c:v>7.5</c:v>
                </c:pt>
                <c:pt idx="49">
                  <c:v>13.5</c:v>
                </c:pt>
                <c:pt idx="50">
                  <c:v>13.033333333333333</c:v>
                </c:pt>
                <c:pt idx="51">
                  <c:v>10.333333333333334</c:v>
                </c:pt>
                <c:pt idx="52">
                  <c:v>12.699999999999998</c:v>
                </c:pt>
                <c:pt idx="53">
                  <c:v>23.633333333333336</c:v>
                </c:pt>
              </c:numCache>
            </c:numRef>
          </c:yVal>
          <c:smooth val="0"/>
          <c:extLst>
            <c:ext xmlns:c16="http://schemas.microsoft.com/office/drawing/2014/chart" uri="{C3380CC4-5D6E-409C-BE32-E72D297353CC}">
              <c16:uniqueId val="{00000000-CFC0-4CB4-8815-E0B545D2C56B}"/>
            </c:ext>
          </c:extLst>
        </c:ser>
        <c:ser>
          <c:idx val="1"/>
          <c:order val="1"/>
          <c:tx>
            <c:strRef>
              <c:f>'Raw data'!$N$654</c:f>
              <c:strCache>
                <c:ptCount val="1"/>
                <c:pt idx="0">
                  <c:v>50-60</c:v>
                </c:pt>
              </c:strCache>
            </c:strRef>
          </c:tx>
          <c:spPr>
            <a:ln w="38100" cap="rnd">
              <a:noFill/>
              <a:round/>
            </a:ln>
            <a:effectLst/>
          </c:spPr>
          <c:marker>
            <c:symbol val="circle"/>
            <c:size val="5"/>
            <c:spPr>
              <a:solidFill>
                <a:schemeClr val="accent2"/>
              </a:solidFill>
              <a:ln w="9525">
                <a:solidFill>
                  <a:schemeClr val="accent2"/>
                </a:solidFill>
              </a:ln>
              <a:effectLst/>
            </c:spPr>
          </c:marker>
          <c:xVal>
            <c:numRef>
              <c:f>'Raw data'!$L$655:$L$708</c:f>
              <c:numCache>
                <c:formatCode>[$-409]d\-mmm\-yy;@</c:formatCode>
                <c:ptCount val="54"/>
                <c:pt idx="0">
                  <c:v>46027</c:v>
                </c:pt>
                <c:pt idx="1">
                  <c:v>46029</c:v>
                </c:pt>
                <c:pt idx="2">
                  <c:v>46031</c:v>
                </c:pt>
                <c:pt idx="3">
                  <c:v>46034</c:v>
                </c:pt>
                <c:pt idx="4">
                  <c:v>46036</c:v>
                </c:pt>
                <c:pt idx="5">
                  <c:v>46038</c:v>
                </c:pt>
                <c:pt idx="6">
                  <c:v>46041</c:v>
                </c:pt>
                <c:pt idx="7">
                  <c:v>46043</c:v>
                </c:pt>
                <c:pt idx="8">
                  <c:v>46045</c:v>
                </c:pt>
                <c:pt idx="9">
                  <c:v>46048</c:v>
                </c:pt>
                <c:pt idx="10">
                  <c:v>46050</c:v>
                </c:pt>
                <c:pt idx="11">
                  <c:v>46052</c:v>
                </c:pt>
                <c:pt idx="12">
                  <c:v>46055</c:v>
                </c:pt>
                <c:pt idx="13">
                  <c:v>46057</c:v>
                </c:pt>
                <c:pt idx="14">
                  <c:v>46059</c:v>
                </c:pt>
                <c:pt idx="15">
                  <c:v>46062</c:v>
                </c:pt>
                <c:pt idx="16">
                  <c:v>46064</c:v>
                </c:pt>
                <c:pt idx="17">
                  <c:v>46066</c:v>
                </c:pt>
                <c:pt idx="18">
                  <c:v>46069</c:v>
                </c:pt>
                <c:pt idx="19">
                  <c:v>46071</c:v>
                </c:pt>
                <c:pt idx="20">
                  <c:v>46073</c:v>
                </c:pt>
                <c:pt idx="21">
                  <c:v>46076</c:v>
                </c:pt>
                <c:pt idx="22">
                  <c:v>46078</c:v>
                </c:pt>
                <c:pt idx="23">
                  <c:v>46080</c:v>
                </c:pt>
                <c:pt idx="24">
                  <c:v>46083</c:v>
                </c:pt>
                <c:pt idx="25">
                  <c:v>46085</c:v>
                </c:pt>
                <c:pt idx="26">
                  <c:v>46087</c:v>
                </c:pt>
                <c:pt idx="27">
                  <c:v>46090</c:v>
                </c:pt>
                <c:pt idx="28">
                  <c:v>46092</c:v>
                </c:pt>
                <c:pt idx="29">
                  <c:v>46094</c:v>
                </c:pt>
                <c:pt idx="30">
                  <c:v>46097</c:v>
                </c:pt>
                <c:pt idx="31">
                  <c:v>46099</c:v>
                </c:pt>
                <c:pt idx="32">
                  <c:v>46101</c:v>
                </c:pt>
                <c:pt idx="33">
                  <c:v>46104</c:v>
                </c:pt>
                <c:pt idx="34">
                  <c:v>46106</c:v>
                </c:pt>
                <c:pt idx="35">
                  <c:v>46108</c:v>
                </c:pt>
                <c:pt idx="36">
                  <c:v>46111</c:v>
                </c:pt>
                <c:pt idx="37">
                  <c:v>46113</c:v>
                </c:pt>
                <c:pt idx="38">
                  <c:v>46115</c:v>
                </c:pt>
                <c:pt idx="39">
                  <c:v>46118</c:v>
                </c:pt>
                <c:pt idx="40">
                  <c:v>46120</c:v>
                </c:pt>
                <c:pt idx="41">
                  <c:v>46122</c:v>
                </c:pt>
                <c:pt idx="42">
                  <c:v>46125</c:v>
                </c:pt>
                <c:pt idx="43">
                  <c:v>46127</c:v>
                </c:pt>
                <c:pt idx="44">
                  <c:v>46129</c:v>
                </c:pt>
                <c:pt idx="45">
                  <c:v>46132</c:v>
                </c:pt>
                <c:pt idx="46">
                  <c:v>46134</c:v>
                </c:pt>
                <c:pt idx="47">
                  <c:v>46136</c:v>
                </c:pt>
                <c:pt idx="48">
                  <c:v>46139</c:v>
                </c:pt>
                <c:pt idx="49">
                  <c:v>46141</c:v>
                </c:pt>
                <c:pt idx="50">
                  <c:v>46143</c:v>
                </c:pt>
                <c:pt idx="51">
                  <c:v>46146</c:v>
                </c:pt>
                <c:pt idx="52">
                  <c:v>46149</c:v>
                </c:pt>
                <c:pt idx="53">
                  <c:v>46150</c:v>
                </c:pt>
              </c:numCache>
            </c:numRef>
          </c:xVal>
          <c:yVal>
            <c:numRef>
              <c:f>'Raw data'!$N$655:$N$708</c:f>
              <c:numCache>
                <c:formatCode>0.0</c:formatCode>
                <c:ptCount val="54"/>
                <c:pt idx="0">
                  <c:v>19</c:v>
                </c:pt>
                <c:pt idx="1">
                  <c:v>15.866666666666667</c:v>
                </c:pt>
                <c:pt idx="2">
                  <c:v>14.533333333333333</c:v>
                </c:pt>
                <c:pt idx="3">
                  <c:v>9.4333333333333336</c:v>
                </c:pt>
                <c:pt idx="4">
                  <c:v>14.266666666666666</c:v>
                </c:pt>
                <c:pt idx="5">
                  <c:v>12.4</c:v>
                </c:pt>
                <c:pt idx="6">
                  <c:v>11</c:v>
                </c:pt>
                <c:pt idx="7">
                  <c:v>15.899999999999999</c:v>
                </c:pt>
                <c:pt idx="8">
                  <c:v>14.1</c:v>
                </c:pt>
                <c:pt idx="9">
                  <c:v>9.8333333333333339</c:v>
                </c:pt>
                <c:pt idx="10">
                  <c:v>14.766666666666667</c:v>
                </c:pt>
                <c:pt idx="11">
                  <c:v>12.633333333333333</c:v>
                </c:pt>
                <c:pt idx="12">
                  <c:v>10.566666666666665</c:v>
                </c:pt>
                <c:pt idx="13">
                  <c:v>10.200000000000001</c:v>
                </c:pt>
                <c:pt idx="14">
                  <c:v>10.333333333333334</c:v>
                </c:pt>
                <c:pt idx="15">
                  <c:v>9.3666666666666654</c:v>
                </c:pt>
                <c:pt idx="16">
                  <c:v>9.8666666666666671</c:v>
                </c:pt>
                <c:pt idx="17">
                  <c:v>8.9333333333333336</c:v>
                </c:pt>
                <c:pt idx="18">
                  <c:v>9.3999999999999986</c:v>
                </c:pt>
                <c:pt idx="19">
                  <c:v>11.600000000000001</c:v>
                </c:pt>
                <c:pt idx="20">
                  <c:v>10.799999999999999</c:v>
                </c:pt>
                <c:pt idx="21">
                  <c:v>7.7666666666666657</c:v>
                </c:pt>
                <c:pt idx="22">
                  <c:v>13.133333333333333</c:v>
                </c:pt>
                <c:pt idx="23">
                  <c:v>9.6333333333333346</c:v>
                </c:pt>
                <c:pt idx="24">
                  <c:v>8.9</c:v>
                </c:pt>
                <c:pt idx="25">
                  <c:v>12.066666666666665</c:v>
                </c:pt>
                <c:pt idx="26">
                  <c:v>9.2333333333333343</c:v>
                </c:pt>
                <c:pt idx="27">
                  <c:v>7.7666666666666666</c:v>
                </c:pt>
                <c:pt idx="28">
                  <c:v>12.699999999999998</c:v>
                </c:pt>
                <c:pt idx="29">
                  <c:v>11.833333333333334</c:v>
                </c:pt>
                <c:pt idx="30">
                  <c:v>8.2000000000000011</c:v>
                </c:pt>
                <c:pt idx="31">
                  <c:v>11.366666666666667</c:v>
                </c:pt>
                <c:pt idx="32">
                  <c:v>9.7999999999999989</c:v>
                </c:pt>
                <c:pt idx="33">
                  <c:v>7.9666666666666659</c:v>
                </c:pt>
                <c:pt idx="34">
                  <c:v>12.533333333333331</c:v>
                </c:pt>
                <c:pt idx="35">
                  <c:v>9.6</c:v>
                </c:pt>
                <c:pt idx="36">
                  <c:v>7.4666666666666659</c:v>
                </c:pt>
                <c:pt idx="37">
                  <c:v>11.333333333333334</c:v>
                </c:pt>
                <c:pt idx="38">
                  <c:v>9.1999999999999993</c:v>
                </c:pt>
                <c:pt idx="39">
                  <c:v>6.9000000000000012</c:v>
                </c:pt>
                <c:pt idx="40">
                  <c:v>9.3333333333333339</c:v>
                </c:pt>
                <c:pt idx="41">
                  <c:v>7.4666666666666659</c:v>
                </c:pt>
                <c:pt idx="42">
                  <c:v>7.2</c:v>
                </c:pt>
                <c:pt idx="43">
                  <c:v>10.799999999999999</c:v>
                </c:pt>
                <c:pt idx="44">
                  <c:v>7.5666666666666664</c:v>
                </c:pt>
                <c:pt idx="45">
                  <c:v>6.6333333333333337</c:v>
                </c:pt>
                <c:pt idx="46">
                  <c:v>10.4</c:v>
                </c:pt>
                <c:pt idx="47">
                  <c:v>8.0333333333333332</c:v>
                </c:pt>
                <c:pt idx="48">
                  <c:v>7.1000000000000005</c:v>
                </c:pt>
                <c:pt idx="49">
                  <c:v>9.7000000000000011</c:v>
                </c:pt>
                <c:pt idx="50">
                  <c:v>7.7333333333333343</c:v>
                </c:pt>
                <c:pt idx="51">
                  <c:v>7.4333333333333327</c:v>
                </c:pt>
                <c:pt idx="52">
                  <c:v>8.8666666666666671</c:v>
                </c:pt>
                <c:pt idx="53">
                  <c:v>15.066666666666665</c:v>
                </c:pt>
              </c:numCache>
            </c:numRef>
          </c:yVal>
          <c:smooth val="0"/>
          <c:extLst>
            <c:ext xmlns:c16="http://schemas.microsoft.com/office/drawing/2014/chart" uri="{C3380CC4-5D6E-409C-BE32-E72D297353CC}">
              <c16:uniqueId val="{00000001-CFC0-4CB4-8815-E0B545D2C56B}"/>
            </c:ext>
          </c:extLst>
        </c:ser>
        <c:ser>
          <c:idx val="2"/>
          <c:order val="2"/>
          <c:tx>
            <c:strRef>
              <c:f>'Raw data'!$O$654</c:f>
              <c:strCache>
                <c:ptCount val="1"/>
                <c:pt idx="0">
                  <c:v>60-80</c:v>
                </c:pt>
              </c:strCache>
            </c:strRef>
          </c:tx>
          <c:spPr>
            <a:ln w="38100" cap="rnd">
              <a:noFill/>
              <a:round/>
            </a:ln>
            <a:effectLst/>
          </c:spPr>
          <c:marker>
            <c:symbol val="circle"/>
            <c:size val="5"/>
            <c:spPr>
              <a:solidFill>
                <a:schemeClr val="accent3"/>
              </a:solidFill>
              <a:ln w="9525">
                <a:solidFill>
                  <a:schemeClr val="accent3"/>
                </a:solidFill>
              </a:ln>
              <a:effectLst/>
            </c:spPr>
          </c:marker>
          <c:xVal>
            <c:numRef>
              <c:f>'Raw data'!$L$655:$L$708</c:f>
              <c:numCache>
                <c:formatCode>[$-409]d\-mmm\-yy;@</c:formatCode>
                <c:ptCount val="54"/>
                <c:pt idx="0">
                  <c:v>46027</c:v>
                </c:pt>
                <c:pt idx="1">
                  <c:v>46029</c:v>
                </c:pt>
                <c:pt idx="2">
                  <c:v>46031</c:v>
                </c:pt>
                <c:pt idx="3">
                  <c:v>46034</c:v>
                </c:pt>
                <c:pt idx="4">
                  <c:v>46036</c:v>
                </c:pt>
                <c:pt idx="5">
                  <c:v>46038</c:v>
                </c:pt>
                <c:pt idx="6">
                  <c:v>46041</c:v>
                </c:pt>
                <c:pt idx="7">
                  <c:v>46043</c:v>
                </c:pt>
                <c:pt idx="8">
                  <c:v>46045</c:v>
                </c:pt>
                <c:pt idx="9">
                  <c:v>46048</c:v>
                </c:pt>
                <c:pt idx="10">
                  <c:v>46050</c:v>
                </c:pt>
                <c:pt idx="11">
                  <c:v>46052</c:v>
                </c:pt>
                <c:pt idx="12">
                  <c:v>46055</c:v>
                </c:pt>
                <c:pt idx="13">
                  <c:v>46057</c:v>
                </c:pt>
                <c:pt idx="14">
                  <c:v>46059</c:v>
                </c:pt>
                <c:pt idx="15">
                  <c:v>46062</c:v>
                </c:pt>
                <c:pt idx="16">
                  <c:v>46064</c:v>
                </c:pt>
                <c:pt idx="17">
                  <c:v>46066</c:v>
                </c:pt>
                <c:pt idx="18">
                  <c:v>46069</c:v>
                </c:pt>
                <c:pt idx="19">
                  <c:v>46071</c:v>
                </c:pt>
                <c:pt idx="20">
                  <c:v>46073</c:v>
                </c:pt>
                <c:pt idx="21">
                  <c:v>46076</c:v>
                </c:pt>
                <c:pt idx="22">
                  <c:v>46078</c:v>
                </c:pt>
                <c:pt idx="23">
                  <c:v>46080</c:v>
                </c:pt>
                <c:pt idx="24">
                  <c:v>46083</c:v>
                </c:pt>
                <c:pt idx="25">
                  <c:v>46085</c:v>
                </c:pt>
                <c:pt idx="26">
                  <c:v>46087</c:v>
                </c:pt>
                <c:pt idx="27">
                  <c:v>46090</c:v>
                </c:pt>
                <c:pt idx="28">
                  <c:v>46092</c:v>
                </c:pt>
                <c:pt idx="29">
                  <c:v>46094</c:v>
                </c:pt>
                <c:pt idx="30">
                  <c:v>46097</c:v>
                </c:pt>
                <c:pt idx="31">
                  <c:v>46099</c:v>
                </c:pt>
                <c:pt idx="32">
                  <c:v>46101</c:v>
                </c:pt>
                <c:pt idx="33">
                  <c:v>46104</c:v>
                </c:pt>
                <c:pt idx="34">
                  <c:v>46106</c:v>
                </c:pt>
                <c:pt idx="35">
                  <c:v>46108</c:v>
                </c:pt>
                <c:pt idx="36">
                  <c:v>46111</c:v>
                </c:pt>
                <c:pt idx="37">
                  <c:v>46113</c:v>
                </c:pt>
                <c:pt idx="38">
                  <c:v>46115</c:v>
                </c:pt>
                <c:pt idx="39">
                  <c:v>46118</c:v>
                </c:pt>
                <c:pt idx="40">
                  <c:v>46120</c:v>
                </c:pt>
                <c:pt idx="41">
                  <c:v>46122</c:v>
                </c:pt>
                <c:pt idx="42">
                  <c:v>46125</c:v>
                </c:pt>
                <c:pt idx="43">
                  <c:v>46127</c:v>
                </c:pt>
                <c:pt idx="44">
                  <c:v>46129</c:v>
                </c:pt>
                <c:pt idx="45">
                  <c:v>46132</c:v>
                </c:pt>
                <c:pt idx="46">
                  <c:v>46134</c:v>
                </c:pt>
                <c:pt idx="47">
                  <c:v>46136</c:v>
                </c:pt>
                <c:pt idx="48">
                  <c:v>46139</c:v>
                </c:pt>
                <c:pt idx="49">
                  <c:v>46141</c:v>
                </c:pt>
                <c:pt idx="50">
                  <c:v>46143</c:v>
                </c:pt>
                <c:pt idx="51">
                  <c:v>46146</c:v>
                </c:pt>
                <c:pt idx="52">
                  <c:v>46149</c:v>
                </c:pt>
                <c:pt idx="53">
                  <c:v>46150</c:v>
                </c:pt>
              </c:numCache>
            </c:numRef>
          </c:xVal>
          <c:yVal>
            <c:numRef>
              <c:f>'Raw data'!$O$655:$O$708</c:f>
              <c:numCache>
                <c:formatCode>0.0</c:formatCode>
                <c:ptCount val="54"/>
                <c:pt idx="0">
                  <c:v>21.533333333333331</c:v>
                </c:pt>
                <c:pt idx="1">
                  <c:v>17.899999999999999</c:v>
                </c:pt>
                <c:pt idx="2">
                  <c:v>16.533333333333335</c:v>
                </c:pt>
                <c:pt idx="3">
                  <c:v>9.8333333333333321</c:v>
                </c:pt>
                <c:pt idx="4">
                  <c:v>14.366666666666667</c:v>
                </c:pt>
                <c:pt idx="5">
                  <c:v>11.533333333333331</c:v>
                </c:pt>
                <c:pt idx="6">
                  <c:v>8</c:v>
                </c:pt>
                <c:pt idx="7">
                  <c:v>11.566666666666668</c:v>
                </c:pt>
                <c:pt idx="8">
                  <c:v>8.5</c:v>
                </c:pt>
                <c:pt idx="9">
                  <c:v>7.5333333333333341</c:v>
                </c:pt>
                <c:pt idx="10">
                  <c:v>11.566666666666668</c:v>
                </c:pt>
                <c:pt idx="11">
                  <c:v>9.7000000000000011</c:v>
                </c:pt>
                <c:pt idx="12">
                  <c:v>8.7000000000000011</c:v>
                </c:pt>
                <c:pt idx="13">
                  <c:v>10.299999999999999</c:v>
                </c:pt>
                <c:pt idx="14">
                  <c:v>9</c:v>
                </c:pt>
                <c:pt idx="15">
                  <c:v>7.4666666666666659</c:v>
                </c:pt>
                <c:pt idx="16">
                  <c:v>8.5333333333333332</c:v>
                </c:pt>
                <c:pt idx="17">
                  <c:v>7.666666666666667</c:v>
                </c:pt>
                <c:pt idx="18">
                  <c:v>6.5333333333333341</c:v>
                </c:pt>
                <c:pt idx="19">
                  <c:v>10.466666666666667</c:v>
                </c:pt>
                <c:pt idx="20">
                  <c:v>7.1333333333333329</c:v>
                </c:pt>
                <c:pt idx="21">
                  <c:v>7.6000000000000005</c:v>
                </c:pt>
                <c:pt idx="22">
                  <c:v>11.433333333333335</c:v>
                </c:pt>
                <c:pt idx="23">
                  <c:v>8.4666666666666668</c:v>
                </c:pt>
                <c:pt idx="24">
                  <c:v>6.3999999999999995</c:v>
                </c:pt>
                <c:pt idx="25">
                  <c:v>13</c:v>
                </c:pt>
                <c:pt idx="26">
                  <c:v>9.2666666666666675</c:v>
                </c:pt>
                <c:pt idx="27">
                  <c:v>7.333333333333333</c:v>
                </c:pt>
                <c:pt idx="28">
                  <c:v>12.933333333333332</c:v>
                </c:pt>
                <c:pt idx="29">
                  <c:v>11.766666666666666</c:v>
                </c:pt>
                <c:pt idx="30">
                  <c:v>5.8666666666666671</c:v>
                </c:pt>
                <c:pt idx="31">
                  <c:v>10.9</c:v>
                </c:pt>
                <c:pt idx="32">
                  <c:v>6.666666666666667</c:v>
                </c:pt>
                <c:pt idx="33">
                  <c:v>6.1000000000000005</c:v>
                </c:pt>
                <c:pt idx="34">
                  <c:v>11.866666666666665</c:v>
                </c:pt>
                <c:pt idx="35">
                  <c:v>7.5</c:v>
                </c:pt>
                <c:pt idx="36">
                  <c:v>5.8666666666666671</c:v>
                </c:pt>
                <c:pt idx="37">
                  <c:v>11.5</c:v>
                </c:pt>
                <c:pt idx="38">
                  <c:v>7.7666666666666666</c:v>
                </c:pt>
                <c:pt idx="39">
                  <c:v>6</c:v>
                </c:pt>
                <c:pt idx="40">
                  <c:v>10.299999999999999</c:v>
                </c:pt>
                <c:pt idx="41">
                  <c:v>7.2666666666666666</c:v>
                </c:pt>
                <c:pt idx="42">
                  <c:v>6.7333333333333343</c:v>
                </c:pt>
                <c:pt idx="43">
                  <c:v>13.333333333333334</c:v>
                </c:pt>
                <c:pt idx="44">
                  <c:v>7.4666666666666659</c:v>
                </c:pt>
                <c:pt idx="45">
                  <c:v>6.3</c:v>
                </c:pt>
                <c:pt idx="46">
                  <c:v>13.1</c:v>
                </c:pt>
                <c:pt idx="47">
                  <c:v>8.1999999999999993</c:v>
                </c:pt>
                <c:pt idx="48">
                  <c:v>6.5666666666666664</c:v>
                </c:pt>
                <c:pt idx="49">
                  <c:v>11.466666666666669</c:v>
                </c:pt>
                <c:pt idx="50">
                  <c:v>11.466666666666669</c:v>
                </c:pt>
                <c:pt idx="51">
                  <c:v>7.2333333333333343</c:v>
                </c:pt>
                <c:pt idx="52">
                  <c:v>9.4</c:v>
                </c:pt>
                <c:pt idx="53">
                  <c:v>22.733333333333334</c:v>
                </c:pt>
              </c:numCache>
            </c:numRef>
          </c:yVal>
          <c:smooth val="0"/>
          <c:extLst>
            <c:ext xmlns:c16="http://schemas.microsoft.com/office/drawing/2014/chart" uri="{C3380CC4-5D6E-409C-BE32-E72D297353CC}">
              <c16:uniqueId val="{00000002-CFC0-4CB4-8815-E0B545D2C56B}"/>
            </c:ext>
          </c:extLst>
        </c:ser>
        <c:ser>
          <c:idx val="3"/>
          <c:order val="3"/>
          <c:tx>
            <c:strRef>
              <c:f>'Raw data'!$P$654</c:f>
              <c:strCache>
                <c:ptCount val="1"/>
                <c:pt idx="0">
                  <c:v>control</c:v>
                </c:pt>
              </c:strCache>
            </c:strRef>
          </c:tx>
          <c:spPr>
            <a:ln w="38100" cap="rnd">
              <a:noFill/>
              <a:round/>
            </a:ln>
            <a:effectLst/>
          </c:spPr>
          <c:marker>
            <c:symbol val="circle"/>
            <c:size val="5"/>
            <c:spPr>
              <a:solidFill>
                <a:schemeClr val="accent4"/>
              </a:solidFill>
              <a:ln w="9525">
                <a:solidFill>
                  <a:schemeClr val="accent4"/>
                </a:solidFill>
              </a:ln>
              <a:effectLst/>
            </c:spPr>
          </c:marker>
          <c:xVal>
            <c:numRef>
              <c:f>'Raw data'!$L$655:$L$708</c:f>
              <c:numCache>
                <c:formatCode>[$-409]d\-mmm\-yy;@</c:formatCode>
                <c:ptCount val="54"/>
                <c:pt idx="0">
                  <c:v>46027</c:v>
                </c:pt>
                <c:pt idx="1">
                  <c:v>46029</c:v>
                </c:pt>
                <c:pt idx="2">
                  <c:v>46031</c:v>
                </c:pt>
                <c:pt idx="3">
                  <c:v>46034</c:v>
                </c:pt>
                <c:pt idx="4">
                  <c:v>46036</c:v>
                </c:pt>
                <c:pt idx="5">
                  <c:v>46038</c:v>
                </c:pt>
                <c:pt idx="6">
                  <c:v>46041</c:v>
                </c:pt>
                <c:pt idx="7">
                  <c:v>46043</c:v>
                </c:pt>
                <c:pt idx="8">
                  <c:v>46045</c:v>
                </c:pt>
                <c:pt idx="9">
                  <c:v>46048</c:v>
                </c:pt>
                <c:pt idx="10">
                  <c:v>46050</c:v>
                </c:pt>
                <c:pt idx="11">
                  <c:v>46052</c:v>
                </c:pt>
                <c:pt idx="12">
                  <c:v>46055</c:v>
                </c:pt>
                <c:pt idx="13">
                  <c:v>46057</c:v>
                </c:pt>
                <c:pt idx="14">
                  <c:v>46059</c:v>
                </c:pt>
                <c:pt idx="15">
                  <c:v>46062</c:v>
                </c:pt>
                <c:pt idx="16">
                  <c:v>46064</c:v>
                </c:pt>
                <c:pt idx="17">
                  <c:v>46066</c:v>
                </c:pt>
                <c:pt idx="18">
                  <c:v>46069</c:v>
                </c:pt>
                <c:pt idx="19">
                  <c:v>46071</c:v>
                </c:pt>
                <c:pt idx="20">
                  <c:v>46073</c:v>
                </c:pt>
                <c:pt idx="21">
                  <c:v>46076</c:v>
                </c:pt>
                <c:pt idx="22">
                  <c:v>46078</c:v>
                </c:pt>
                <c:pt idx="23">
                  <c:v>46080</c:v>
                </c:pt>
                <c:pt idx="24">
                  <c:v>46083</c:v>
                </c:pt>
                <c:pt idx="25">
                  <c:v>46085</c:v>
                </c:pt>
                <c:pt idx="26">
                  <c:v>46087</c:v>
                </c:pt>
                <c:pt idx="27">
                  <c:v>46090</c:v>
                </c:pt>
                <c:pt idx="28">
                  <c:v>46092</c:v>
                </c:pt>
                <c:pt idx="29">
                  <c:v>46094</c:v>
                </c:pt>
                <c:pt idx="30">
                  <c:v>46097</c:v>
                </c:pt>
                <c:pt idx="31">
                  <c:v>46099</c:v>
                </c:pt>
                <c:pt idx="32">
                  <c:v>46101</c:v>
                </c:pt>
                <c:pt idx="33">
                  <c:v>46104</c:v>
                </c:pt>
                <c:pt idx="34">
                  <c:v>46106</c:v>
                </c:pt>
                <c:pt idx="35">
                  <c:v>46108</c:v>
                </c:pt>
                <c:pt idx="36">
                  <c:v>46111</c:v>
                </c:pt>
                <c:pt idx="37">
                  <c:v>46113</c:v>
                </c:pt>
                <c:pt idx="38">
                  <c:v>46115</c:v>
                </c:pt>
                <c:pt idx="39">
                  <c:v>46118</c:v>
                </c:pt>
                <c:pt idx="40">
                  <c:v>46120</c:v>
                </c:pt>
                <c:pt idx="41">
                  <c:v>46122</c:v>
                </c:pt>
                <c:pt idx="42">
                  <c:v>46125</c:v>
                </c:pt>
                <c:pt idx="43">
                  <c:v>46127</c:v>
                </c:pt>
                <c:pt idx="44">
                  <c:v>46129</c:v>
                </c:pt>
                <c:pt idx="45">
                  <c:v>46132</c:v>
                </c:pt>
                <c:pt idx="46">
                  <c:v>46134</c:v>
                </c:pt>
                <c:pt idx="47">
                  <c:v>46136</c:v>
                </c:pt>
                <c:pt idx="48">
                  <c:v>46139</c:v>
                </c:pt>
                <c:pt idx="49">
                  <c:v>46141</c:v>
                </c:pt>
                <c:pt idx="50">
                  <c:v>46143</c:v>
                </c:pt>
                <c:pt idx="51">
                  <c:v>46146</c:v>
                </c:pt>
                <c:pt idx="52">
                  <c:v>46149</c:v>
                </c:pt>
                <c:pt idx="53">
                  <c:v>46150</c:v>
                </c:pt>
              </c:numCache>
            </c:numRef>
          </c:xVal>
          <c:yVal>
            <c:numRef>
              <c:f>'Raw data'!$P$655:$P$708</c:f>
              <c:numCache>
                <c:formatCode>0.0</c:formatCode>
                <c:ptCount val="54"/>
                <c:pt idx="0">
                  <c:v>19.100000000000001</c:v>
                </c:pt>
                <c:pt idx="1">
                  <c:v>17.399999999999999</c:v>
                </c:pt>
                <c:pt idx="2">
                  <c:v>15.7</c:v>
                </c:pt>
                <c:pt idx="3">
                  <c:v>13</c:v>
                </c:pt>
                <c:pt idx="4">
                  <c:v>11.35</c:v>
                </c:pt>
                <c:pt idx="5">
                  <c:v>10.35</c:v>
                </c:pt>
                <c:pt idx="6">
                  <c:v>9.4</c:v>
                </c:pt>
                <c:pt idx="7">
                  <c:v>8.65</c:v>
                </c:pt>
                <c:pt idx="8">
                  <c:v>8.4</c:v>
                </c:pt>
                <c:pt idx="9">
                  <c:v>7.65</c:v>
                </c:pt>
                <c:pt idx="10">
                  <c:v>7.3000000000000007</c:v>
                </c:pt>
                <c:pt idx="11">
                  <c:v>7.1</c:v>
                </c:pt>
                <c:pt idx="12">
                  <c:v>7.1</c:v>
                </c:pt>
                <c:pt idx="13">
                  <c:v>6.6</c:v>
                </c:pt>
                <c:pt idx="14">
                  <c:v>6.2</c:v>
                </c:pt>
                <c:pt idx="15">
                  <c:v>6.05</c:v>
                </c:pt>
                <c:pt idx="16">
                  <c:v>5.75</c:v>
                </c:pt>
                <c:pt idx="17">
                  <c:v>5.3999999999999995</c:v>
                </c:pt>
                <c:pt idx="18">
                  <c:v>5.2</c:v>
                </c:pt>
                <c:pt idx="19">
                  <c:v>5.0500000000000007</c:v>
                </c:pt>
                <c:pt idx="20">
                  <c:v>4.7</c:v>
                </c:pt>
                <c:pt idx="21">
                  <c:v>4.7</c:v>
                </c:pt>
                <c:pt idx="22">
                  <c:v>4.5999999999999996</c:v>
                </c:pt>
                <c:pt idx="23">
                  <c:v>4.4000000000000004</c:v>
                </c:pt>
                <c:pt idx="24">
                  <c:v>4.6499999999999995</c:v>
                </c:pt>
                <c:pt idx="25">
                  <c:v>4.25</c:v>
                </c:pt>
                <c:pt idx="26">
                  <c:v>4.25</c:v>
                </c:pt>
                <c:pt idx="27">
                  <c:v>4.3500000000000005</c:v>
                </c:pt>
                <c:pt idx="28">
                  <c:v>3.95</c:v>
                </c:pt>
                <c:pt idx="29">
                  <c:v>4</c:v>
                </c:pt>
                <c:pt idx="30">
                  <c:v>4.4000000000000004</c:v>
                </c:pt>
                <c:pt idx="31">
                  <c:v>4</c:v>
                </c:pt>
                <c:pt idx="32">
                  <c:v>3.8</c:v>
                </c:pt>
                <c:pt idx="33">
                  <c:v>3.75</c:v>
                </c:pt>
                <c:pt idx="34">
                  <c:v>3.65</c:v>
                </c:pt>
                <c:pt idx="35">
                  <c:v>3.45</c:v>
                </c:pt>
                <c:pt idx="36">
                  <c:v>3.3</c:v>
                </c:pt>
                <c:pt idx="37">
                  <c:v>3.9000000000000004</c:v>
                </c:pt>
                <c:pt idx="38">
                  <c:v>4.05</c:v>
                </c:pt>
                <c:pt idx="39">
                  <c:v>3.3</c:v>
                </c:pt>
                <c:pt idx="40">
                  <c:v>3.3</c:v>
                </c:pt>
                <c:pt idx="41">
                  <c:v>3.3</c:v>
                </c:pt>
                <c:pt idx="42">
                  <c:v>3.4000000000000004</c:v>
                </c:pt>
                <c:pt idx="43">
                  <c:v>3.05</c:v>
                </c:pt>
                <c:pt idx="44">
                  <c:v>3.25</c:v>
                </c:pt>
                <c:pt idx="45">
                  <c:v>3.3</c:v>
                </c:pt>
                <c:pt idx="46">
                  <c:v>2.95</c:v>
                </c:pt>
                <c:pt idx="47">
                  <c:v>3.45</c:v>
                </c:pt>
                <c:pt idx="48">
                  <c:v>2.95</c:v>
                </c:pt>
                <c:pt idx="49">
                  <c:v>3</c:v>
                </c:pt>
                <c:pt idx="50">
                  <c:v>2.9000000000000004</c:v>
                </c:pt>
                <c:pt idx="51">
                  <c:v>3.25</c:v>
                </c:pt>
                <c:pt idx="52">
                  <c:v>3.25</c:v>
                </c:pt>
                <c:pt idx="53">
                  <c:v>2.95</c:v>
                </c:pt>
              </c:numCache>
            </c:numRef>
          </c:yVal>
          <c:smooth val="0"/>
          <c:extLst>
            <c:ext xmlns:c16="http://schemas.microsoft.com/office/drawing/2014/chart" uri="{C3380CC4-5D6E-409C-BE32-E72D297353CC}">
              <c16:uniqueId val="{00000003-CFC0-4CB4-8815-E0B545D2C56B}"/>
            </c:ext>
          </c:extLst>
        </c:ser>
        <c:dLbls>
          <c:showLegendKey val="0"/>
          <c:showVal val="0"/>
          <c:showCatName val="0"/>
          <c:showSerName val="0"/>
          <c:showPercent val="0"/>
          <c:showBubbleSize val="0"/>
        </c:dLbls>
        <c:axId val="807633983"/>
        <c:axId val="807651263"/>
      </c:scatterChart>
      <c:valAx>
        <c:axId val="807633983"/>
        <c:scaling>
          <c:orientation val="minMax"/>
        </c:scaling>
        <c:delete val="0"/>
        <c:axPos val="b"/>
        <c:majorGridlines>
          <c:spPr>
            <a:ln w="9525" cap="flat" cmpd="sng" algn="ctr">
              <a:solidFill>
                <a:schemeClr val="tx1">
                  <a:lumMod val="15000"/>
                  <a:lumOff val="85000"/>
                </a:schemeClr>
              </a:solidFill>
              <a:round/>
            </a:ln>
            <a:effectLst/>
          </c:spPr>
        </c:majorGridlines>
        <c:numFmt formatCode="[$-409]d\-mmm\-yy;@"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endParaRPr lang="en-US"/>
          </a:p>
        </c:txPr>
        <c:crossAx val="807651263"/>
        <c:crosses val="autoZero"/>
        <c:crossBetween val="midCat"/>
        <c:minorUnit val="30"/>
      </c:valAx>
      <c:valAx>
        <c:axId val="80765126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r>
                  <a:rPr lang="en-US"/>
                  <a:t>voluetric water content (%)</a:t>
                </a:r>
              </a:p>
            </c:rich>
          </c:tx>
          <c:layout>
            <c:manualLayout>
              <c:xMode val="edge"/>
              <c:yMode val="edge"/>
              <c:x val="1.5685558198090182E-2"/>
              <c:y val="0.1691475611315261"/>
            </c:manualLayout>
          </c:layout>
          <c:overlay val="0"/>
          <c:spPr>
            <a:noFill/>
            <a:ln>
              <a:noFill/>
            </a:ln>
            <a:effectLst/>
          </c:spPr>
          <c:txPr>
            <a:bodyPr rot="-540000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endParaRPr lang="en-US"/>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endParaRPr lang="en-US"/>
          </a:p>
        </c:txPr>
        <c:crossAx val="807633983"/>
        <c:crosses val="autoZero"/>
        <c:crossBetween val="midCat"/>
      </c:valAx>
      <c:spPr>
        <a:noFill/>
        <a:ln>
          <a:noFill/>
        </a:ln>
        <a:effectLst/>
      </c:spPr>
    </c:plotArea>
    <c:legend>
      <c:legendPos val="b"/>
      <c:layout>
        <c:manualLayout>
          <c:xMode val="edge"/>
          <c:yMode val="edge"/>
          <c:x val="0.27678040244969376"/>
          <c:y val="0.13205571271554442"/>
          <c:w val="0.44643919510061242"/>
          <c:h val="0.10839406274616549"/>
        </c:manualLayout>
      </c:layout>
      <c:overlay val="0"/>
      <c:spPr>
        <a:noFill/>
        <a:ln>
          <a:noFill/>
        </a:ln>
        <a:effectLst/>
      </c:spPr>
      <c:txPr>
        <a:bodyPr rot="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0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154680" y="5387342"/>
            <a:ext cx="35753040" cy="11460480"/>
          </a:xfrm>
        </p:spPr>
        <p:txBody>
          <a:bodyPr anchor="b"/>
          <a:lstStyle>
            <a:lvl1pPr algn="ctr">
              <a:defRPr sz="27600"/>
            </a:lvl1pPr>
          </a:lstStyle>
          <a:p>
            <a:r>
              <a:rPr lang="en-US"/>
              <a:t>Click to edit Master title style</a:t>
            </a:r>
            <a:endParaRPr lang="en-US" dirty="0"/>
          </a:p>
        </p:txBody>
      </p:sp>
      <p:sp>
        <p:nvSpPr>
          <p:cNvPr id="3" name="Subtitle 2"/>
          <p:cNvSpPr>
            <a:spLocks noGrp="1"/>
          </p:cNvSpPr>
          <p:nvPr>
            <p:ph type="subTitle" idx="1"/>
          </p:nvPr>
        </p:nvSpPr>
        <p:spPr>
          <a:xfrm>
            <a:off x="5257800" y="17289782"/>
            <a:ext cx="31546800" cy="7947658"/>
          </a:xfrm>
        </p:spPr>
        <p:txBody>
          <a:bodyPr/>
          <a:lstStyle>
            <a:lvl1pPr marL="0" indent="0" algn="ctr">
              <a:buNone/>
              <a:defRPr sz="11040"/>
            </a:lvl1pPr>
            <a:lvl2pPr marL="2103120" indent="0" algn="ctr">
              <a:buNone/>
              <a:defRPr sz="9200"/>
            </a:lvl2pPr>
            <a:lvl3pPr marL="4206240" indent="0" algn="ctr">
              <a:buNone/>
              <a:defRPr sz="8280"/>
            </a:lvl3pPr>
            <a:lvl4pPr marL="6309360" indent="0" algn="ctr">
              <a:buNone/>
              <a:defRPr sz="7360"/>
            </a:lvl4pPr>
            <a:lvl5pPr marL="8412480" indent="0" algn="ctr">
              <a:buNone/>
              <a:defRPr sz="7360"/>
            </a:lvl5pPr>
            <a:lvl6pPr marL="10515600" indent="0" algn="ctr">
              <a:buNone/>
              <a:defRPr sz="7360"/>
            </a:lvl6pPr>
            <a:lvl7pPr marL="12618720" indent="0" algn="ctr">
              <a:buNone/>
              <a:defRPr sz="7360"/>
            </a:lvl7pPr>
            <a:lvl8pPr marL="14721840" indent="0" algn="ctr">
              <a:buNone/>
              <a:defRPr sz="7360"/>
            </a:lvl8pPr>
            <a:lvl9pPr marL="16824960" indent="0" algn="ctr">
              <a:buNone/>
              <a:defRPr sz="7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042257-F791-4CB5-B0AE-F5A64F3428AF}"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0B6767-C1AF-40CE-9E2B-CAD1C0DED760}" type="slidenum">
              <a:rPr lang="en-US" smtClean="0"/>
              <a:t>‹#›</a:t>
            </a:fld>
            <a:endParaRPr lang="en-US"/>
          </a:p>
        </p:txBody>
      </p:sp>
    </p:spTree>
    <p:extLst>
      <p:ext uri="{BB962C8B-B14F-4D97-AF65-F5344CB8AC3E}">
        <p14:creationId xmlns:p14="http://schemas.microsoft.com/office/powerpoint/2010/main" val="2785307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042257-F791-4CB5-B0AE-F5A64F3428AF}"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0B6767-C1AF-40CE-9E2B-CAD1C0DED760}" type="slidenum">
              <a:rPr lang="en-US" smtClean="0"/>
              <a:t>‹#›</a:t>
            </a:fld>
            <a:endParaRPr lang="en-US"/>
          </a:p>
        </p:txBody>
      </p:sp>
    </p:spTree>
    <p:extLst>
      <p:ext uri="{BB962C8B-B14F-4D97-AF65-F5344CB8AC3E}">
        <p14:creationId xmlns:p14="http://schemas.microsoft.com/office/powerpoint/2010/main" val="1545411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869885" y="8206749"/>
            <a:ext cx="36278820" cy="13693138"/>
          </a:xfrm>
        </p:spPr>
        <p:txBody>
          <a:bodyPr anchor="b"/>
          <a:lstStyle>
            <a:lvl1pPr>
              <a:defRPr sz="27600"/>
            </a:lvl1pPr>
          </a:lstStyle>
          <a:p>
            <a:r>
              <a:rPr lang="en-US"/>
              <a:t>Click to edit Master title style</a:t>
            </a:r>
            <a:endParaRPr lang="en-US" dirty="0"/>
          </a:p>
        </p:txBody>
      </p:sp>
      <p:sp>
        <p:nvSpPr>
          <p:cNvPr id="3" name="Text Placeholder 2"/>
          <p:cNvSpPr>
            <a:spLocks noGrp="1"/>
          </p:cNvSpPr>
          <p:nvPr>
            <p:ph type="body" idx="1"/>
          </p:nvPr>
        </p:nvSpPr>
        <p:spPr>
          <a:xfrm>
            <a:off x="2869885" y="22029429"/>
            <a:ext cx="36278820" cy="7200898"/>
          </a:xfrm>
        </p:spPr>
        <p:txBody>
          <a:bodyPr/>
          <a:lstStyle>
            <a:lvl1pPr marL="0" indent="0">
              <a:buNone/>
              <a:defRPr sz="11040">
                <a:solidFill>
                  <a:schemeClr val="tx1">
                    <a:tint val="82000"/>
                  </a:schemeClr>
                </a:solidFill>
              </a:defRPr>
            </a:lvl1pPr>
            <a:lvl2pPr marL="2103120" indent="0">
              <a:buNone/>
              <a:defRPr sz="9200">
                <a:solidFill>
                  <a:schemeClr val="tx1">
                    <a:tint val="82000"/>
                  </a:schemeClr>
                </a:solidFill>
              </a:defRPr>
            </a:lvl2pPr>
            <a:lvl3pPr marL="4206240" indent="0">
              <a:buNone/>
              <a:defRPr sz="8280">
                <a:solidFill>
                  <a:schemeClr val="tx1">
                    <a:tint val="82000"/>
                  </a:schemeClr>
                </a:solidFill>
              </a:defRPr>
            </a:lvl3pPr>
            <a:lvl4pPr marL="6309360" indent="0">
              <a:buNone/>
              <a:defRPr sz="7360">
                <a:solidFill>
                  <a:schemeClr val="tx1">
                    <a:tint val="82000"/>
                  </a:schemeClr>
                </a:solidFill>
              </a:defRPr>
            </a:lvl4pPr>
            <a:lvl5pPr marL="8412480" indent="0">
              <a:buNone/>
              <a:defRPr sz="7360">
                <a:solidFill>
                  <a:schemeClr val="tx1">
                    <a:tint val="82000"/>
                  </a:schemeClr>
                </a:solidFill>
              </a:defRPr>
            </a:lvl5pPr>
            <a:lvl6pPr marL="10515600" indent="0">
              <a:buNone/>
              <a:defRPr sz="7360">
                <a:solidFill>
                  <a:schemeClr val="tx1">
                    <a:tint val="82000"/>
                  </a:schemeClr>
                </a:solidFill>
              </a:defRPr>
            </a:lvl6pPr>
            <a:lvl7pPr marL="12618720" indent="0">
              <a:buNone/>
              <a:defRPr sz="7360">
                <a:solidFill>
                  <a:schemeClr val="tx1">
                    <a:tint val="82000"/>
                  </a:schemeClr>
                </a:solidFill>
              </a:defRPr>
            </a:lvl7pPr>
            <a:lvl8pPr marL="14721840" indent="0">
              <a:buNone/>
              <a:defRPr sz="7360">
                <a:solidFill>
                  <a:schemeClr val="tx1">
                    <a:tint val="82000"/>
                  </a:schemeClr>
                </a:solidFill>
              </a:defRPr>
            </a:lvl8pPr>
            <a:lvl9pPr marL="16824960" indent="0">
              <a:buNone/>
              <a:defRPr sz="73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042257-F791-4CB5-B0AE-F5A64F3428AF}"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0B6767-C1AF-40CE-9E2B-CAD1C0DED760}" type="slidenum">
              <a:rPr lang="en-US" smtClean="0"/>
              <a:t>‹#›</a:t>
            </a:fld>
            <a:endParaRPr lang="en-US"/>
          </a:p>
        </p:txBody>
      </p:sp>
    </p:spTree>
    <p:extLst>
      <p:ext uri="{BB962C8B-B14F-4D97-AF65-F5344CB8AC3E}">
        <p14:creationId xmlns:p14="http://schemas.microsoft.com/office/powerpoint/2010/main" val="1989554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891790" y="8763000"/>
            <a:ext cx="1787652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1294090" y="8763000"/>
            <a:ext cx="1787652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042257-F791-4CB5-B0AE-F5A64F3428AF}"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0B6767-C1AF-40CE-9E2B-CAD1C0DED760}" type="slidenum">
              <a:rPr lang="en-US" smtClean="0"/>
              <a:t>‹#›</a:t>
            </a:fld>
            <a:endParaRPr lang="en-US"/>
          </a:p>
        </p:txBody>
      </p:sp>
    </p:spTree>
    <p:extLst>
      <p:ext uri="{BB962C8B-B14F-4D97-AF65-F5344CB8AC3E}">
        <p14:creationId xmlns:p14="http://schemas.microsoft.com/office/powerpoint/2010/main" val="2182404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7269" y="1752607"/>
            <a:ext cx="3627882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897273" y="8069582"/>
            <a:ext cx="17794364" cy="3954778"/>
          </a:xfrm>
        </p:spPr>
        <p:txBody>
          <a:bodyPr anchor="b"/>
          <a:lstStyle>
            <a:lvl1pPr marL="0" indent="0">
              <a:buNone/>
              <a:defRPr sz="11040" b="1"/>
            </a:lvl1pPr>
            <a:lvl2pPr marL="2103120" indent="0">
              <a:buNone/>
              <a:defRPr sz="9200" b="1"/>
            </a:lvl2pPr>
            <a:lvl3pPr marL="4206240" indent="0">
              <a:buNone/>
              <a:defRPr sz="8280" b="1"/>
            </a:lvl3pPr>
            <a:lvl4pPr marL="6309360" indent="0">
              <a:buNone/>
              <a:defRPr sz="7360" b="1"/>
            </a:lvl4pPr>
            <a:lvl5pPr marL="8412480" indent="0">
              <a:buNone/>
              <a:defRPr sz="7360" b="1"/>
            </a:lvl5pPr>
            <a:lvl6pPr marL="10515600" indent="0">
              <a:buNone/>
              <a:defRPr sz="7360" b="1"/>
            </a:lvl6pPr>
            <a:lvl7pPr marL="12618720" indent="0">
              <a:buNone/>
              <a:defRPr sz="7360" b="1"/>
            </a:lvl7pPr>
            <a:lvl8pPr marL="14721840" indent="0">
              <a:buNone/>
              <a:defRPr sz="7360" b="1"/>
            </a:lvl8pPr>
            <a:lvl9pPr marL="16824960" indent="0">
              <a:buNone/>
              <a:defRPr sz="7360" b="1"/>
            </a:lvl9pPr>
          </a:lstStyle>
          <a:p>
            <a:pPr lvl="0"/>
            <a:r>
              <a:rPr lang="en-US"/>
              <a:t>Click to edit Master text styles</a:t>
            </a:r>
          </a:p>
        </p:txBody>
      </p:sp>
      <p:sp>
        <p:nvSpPr>
          <p:cNvPr id="4" name="Content Placeholder 3"/>
          <p:cNvSpPr>
            <a:spLocks noGrp="1"/>
          </p:cNvSpPr>
          <p:nvPr>
            <p:ph sz="half" idx="2"/>
          </p:nvPr>
        </p:nvSpPr>
        <p:spPr>
          <a:xfrm>
            <a:off x="2897273" y="12024360"/>
            <a:ext cx="17794364"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1294092" y="8069582"/>
            <a:ext cx="17881999" cy="3954778"/>
          </a:xfrm>
        </p:spPr>
        <p:txBody>
          <a:bodyPr anchor="b"/>
          <a:lstStyle>
            <a:lvl1pPr marL="0" indent="0">
              <a:buNone/>
              <a:defRPr sz="11040" b="1"/>
            </a:lvl1pPr>
            <a:lvl2pPr marL="2103120" indent="0">
              <a:buNone/>
              <a:defRPr sz="9200" b="1"/>
            </a:lvl2pPr>
            <a:lvl3pPr marL="4206240" indent="0">
              <a:buNone/>
              <a:defRPr sz="8280" b="1"/>
            </a:lvl3pPr>
            <a:lvl4pPr marL="6309360" indent="0">
              <a:buNone/>
              <a:defRPr sz="7360" b="1"/>
            </a:lvl4pPr>
            <a:lvl5pPr marL="8412480" indent="0">
              <a:buNone/>
              <a:defRPr sz="7360" b="1"/>
            </a:lvl5pPr>
            <a:lvl6pPr marL="10515600" indent="0">
              <a:buNone/>
              <a:defRPr sz="7360" b="1"/>
            </a:lvl6pPr>
            <a:lvl7pPr marL="12618720" indent="0">
              <a:buNone/>
              <a:defRPr sz="7360" b="1"/>
            </a:lvl7pPr>
            <a:lvl8pPr marL="14721840" indent="0">
              <a:buNone/>
              <a:defRPr sz="7360" b="1"/>
            </a:lvl8pPr>
            <a:lvl9pPr marL="16824960" indent="0">
              <a:buNone/>
              <a:defRPr sz="7360" b="1"/>
            </a:lvl9pPr>
          </a:lstStyle>
          <a:p>
            <a:pPr lvl="0"/>
            <a:r>
              <a:rPr lang="en-US"/>
              <a:t>Click to edit Master text styles</a:t>
            </a:r>
          </a:p>
        </p:txBody>
      </p:sp>
      <p:sp>
        <p:nvSpPr>
          <p:cNvPr id="6" name="Content Placeholder 5"/>
          <p:cNvSpPr>
            <a:spLocks noGrp="1"/>
          </p:cNvSpPr>
          <p:nvPr>
            <p:ph sz="quarter" idx="4"/>
          </p:nvPr>
        </p:nvSpPr>
        <p:spPr>
          <a:xfrm>
            <a:off x="21294092" y="12024360"/>
            <a:ext cx="17881999"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042257-F791-4CB5-B0AE-F5A64F3428AF}" type="datetimeFigureOut">
              <a:rPr lang="en-US" smtClean="0"/>
              <a:t>9/15/26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0B6767-C1AF-40CE-9E2B-CAD1C0DED760}" type="slidenum">
              <a:rPr lang="en-US" smtClean="0"/>
              <a:t>‹#›</a:t>
            </a:fld>
            <a:endParaRPr lang="en-US"/>
          </a:p>
        </p:txBody>
      </p:sp>
    </p:spTree>
    <p:extLst>
      <p:ext uri="{BB962C8B-B14F-4D97-AF65-F5344CB8AC3E}">
        <p14:creationId xmlns:p14="http://schemas.microsoft.com/office/powerpoint/2010/main" val="339608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042257-F791-4CB5-B0AE-F5A64F3428AF}" type="datetimeFigureOut">
              <a:rPr lang="en-US" smtClean="0"/>
              <a:t>9/15/26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0B6767-C1AF-40CE-9E2B-CAD1C0DED760}" type="slidenum">
              <a:rPr lang="en-US" smtClean="0"/>
              <a:t>‹#›</a:t>
            </a:fld>
            <a:endParaRPr lang="en-US"/>
          </a:p>
        </p:txBody>
      </p:sp>
    </p:spTree>
    <p:extLst>
      <p:ext uri="{BB962C8B-B14F-4D97-AF65-F5344CB8AC3E}">
        <p14:creationId xmlns:p14="http://schemas.microsoft.com/office/powerpoint/2010/main" val="2687257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042257-F791-4CB5-B0AE-F5A64F3428AF}" type="datetimeFigureOut">
              <a:rPr lang="en-US" smtClean="0"/>
              <a:t>9/15/26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0B6767-C1AF-40CE-9E2B-CAD1C0DED760}" type="slidenum">
              <a:rPr lang="en-US" smtClean="0"/>
              <a:t>‹#›</a:t>
            </a:fld>
            <a:endParaRPr lang="en-US"/>
          </a:p>
        </p:txBody>
      </p:sp>
    </p:spTree>
    <p:extLst>
      <p:ext uri="{BB962C8B-B14F-4D97-AF65-F5344CB8AC3E}">
        <p14:creationId xmlns:p14="http://schemas.microsoft.com/office/powerpoint/2010/main" val="3538695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97269" y="2194560"/>
            <a:ext cx="13566219" cy="7680960"/>
          </a:xfrm>
        </p:spPr>
        <p:txBody>
          <a:bodyPr anchor="b"/>
          <a:lstStyle>
            <a:lvl1pPr>
              <a:defRPr sz="14720"/>
            </a:lvl1pPr>
          </a:lstStyle>
          <a:p>
            <a:r>
              <a:rPr lang="en-US"/>
              <a:t>Click to edit Master title style</a:t>
            </a:r>
            <a:endParaRPr lang="en-US" dirty="0"/>
          </a:p>
        </p:txBody>
      </p:sp>
      <p:sp>
        <p:nvSpPr>
          <p:cNvPr id="3" name="Content Placeholder 2"/>
          <p:cNvSpPr>
            <a:spLocks noGrp="1"/>
          </p:cNvSpPr>
          <p:nvPr>
            <p:ph idx="1"/>
          </p:nvPr>
        </p:nvSpPr>
        <p:spPr>
          <a:xfrm>
            <a:off x="17881999" y="4739647"/>
            <a:ext cx="21294090" cy="23393400"/>
          </a:xfrm>
        </p:spPr>
        <p:txBody>
          <a:bodyPr/>
          <a:lstStyle>
            <a:lvl1pPr>
              <a:defRPr sz="14720"/>
            </a:lvl1pPr>
            <a:lvl2pPr>
              <a:defRPr sz="12880"/>
            </a:lvl2pPr>
            <a:lvl3pPr>
              <a:defRPr sz="11040"/>
            </a:lvl3pPr>
            <a:lvl4pPr>
              <a:defRPr sz="9200"/>
            </a:lvl4pPr>
            <a:lvl5pPr>
              <a:defRPr sz="9200"/>
            </a:lvl5pPr>
            <a:lvl6pPr>
              <a:defRPr sz="9200"/>
            </a:lvl6pPr>
            <a:lvl7pPr>
              <a:defRPr sz="9200"/>
            </a:lvl7pPr>
            <a:lvl8pPr>
              <a:defRPr sz="9200"/>
            </a:lvl8pPr>
            <a:lvl9pPr>
              <a:defRPr sz="9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897269" y="9875520"/>
            <a:ext cx="13566219" cy="18295622"/>
          </a:xfrm>
        </p:spPr>
        <p:txBody>
          <a:bodyPr/>
          <a:lstStyle>
            <a:lvl1pPr marL="0" indent="0">
              <a:buNone/>
              <a:defRPr sz="7360"/>
            </a:lvl1pPr>
            <a:lvl2pPr marL="2103120" indent="0">
              <a:buNone/>
              <a:defRPr sz="6440"/>
            </a:lvl2pPr>
            <a:lvl3pPr marL="4206240" indent="0">
              <a:buNone/>
              <a:defRPr sz="5520"/>
            </a:lvl3pPr>
            <a:lvl4pPr marL="6309360" indent="0">
              <a:buNone/>
              <a:defRPr sz="4600"/>
            </a:lvl4pPr>
            <a:lvl5pPr marL="8412480" indent="0">
              <a:buNone/>
              <a:defRPr sz="4600"/>
            </a:lvl5pPr>
            <a:lvl6pPr marL="10515600" indent="0">
              <a:buNone/>
              <a:defRPr sz="4600"/>
            </a:lvl6pPr>
            <a:lvl7pPr marL="12618720" indent="0">
              <a:buNone/>
              <a:defRPr sz="4600"/>
            </a:lvl7pPr>
            <a:lvl8pPr marL="14721840" indent="0">
              <a:buNone/>
              <a:defRPr sz="4600"/>
            </a:lvl8pPr>
            <a:lvl9pPr marL="16824960" indent="0">
              <a:buNone/>
              <a:defRPr sz="4600"/>
            </a:lvl9pPr>
          </a:lstStyle>
          <a:p>
            <a:pPr lvl="0"/>
            <a:r>
              <a:rPr lang="en-US"/>
              <a:t>Click to edit Master text styles</a:t>
            </a:r>
          </a:p>
        </p:txBody>
      </p:sp>
      <p:sp>
        <p:nvSpPr>
          <p:cNvPr id="5" name="Date Placeholder 4"/>
          <p:cNvSpPr>
            <a:spLocks noGrp="1"/>
          </p:cNvSpPr>
          <p:nvPr>
            <p:ph type="dt" sz="half" idx="10"/>
          </p:nvPr>
        </p:nvSpPr>
        <p:spPr/>
        <p:txBody>
          <a:bodyPr/>
          <a:lstStyle/>
          <a:p>
            <a:fld id="{BC042257-F791-4CB5-B0AE-F5A64F3428AF}"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0B6767-C1AF-40CE-9E2B-CAD1C0DED760}" type="slidenum">
              <a:rPr lang="en-US" smtClean="0"/>
              <a:t>‹#›</a:t>
            </a:fld>
            <a:endParaRPr lang="en-US"/>
          </a:p>
        </p:txBody>
      </p:sp>
    </p:spTree>
    <p:extLst>
      <p:ext uri="{BB962C8B-B14F-4D97-AF65-F5344CB8AC3E}">
        <p14:creationId xmlns:p14="http://schemas.microsoft.com/office/powerpoint/2010/main" val="616709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97269" y="2194560"/>
            <a:ext cx="13566219" cy="7680960"/>
          </a:xfrm>
        </p:spPr>
        <p:txBody>
          <a:bodyPr anchor="b"/>
          <a:lstStyle>
            <a:lvl1pPr>
              <a:defRPr sz="14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81999" y="4739647"/>
            <a:ext cx="21294090" cy="23393400"/>
          </a:xfrm>
        </p:spPr>
        <p:txBody>
          <a:bodyPr anchor="t"/>
          <a:lstStyle>
            <a:lvl1pPr marL="0" indent="0">
              <a:buNone/>
              <a:defRPr sz="14720"/>
            </a:lvl1pPr>
            <a:lvl2pPr marL="2103120" indent="0">
              <a:buNone/>
              <a:defRPr sz="12880"/>
            </a:lvl2pPr>
            <a:lvl3pPr marL="4206240" indent="0">
              <a:buNone/>
              <a:defRPr sz="11040"/>
            </a:lvl3pPr>
            <a:lvl4pPr marL="6309360" indent="0">
              <a:buNone/>
              <a:defRPr sz="9200"/>
            </a:lvl4pPr>
            <a:lvl5pPr marL="8412480" indent="0">
              <a:buNone/>
              <a:defRPr sz="9200"/>
            </a:lvl5pPr>
            <a:lvl6pPr marL="10515600" indent="0">
              <a:buNone/>
              <a:defRPr sz="9200"/>
            </a:lvl6pPr>
            <a:lvl7pPr marL="12618720" indent="0">
              <a:buNone/>
              <a:defRPr sz="9200"/>
            </a:lvl7pPr>
            <a:lvl8pPr marL="14721840" indent="0">
              <a:buNone/>
              <a:defRPr sz="9200"/>
            </a:lvl8pPr>
            <a:lvl9pPr marL="16824960" indent="0">
              <a:buNone/>
              <a:defRPr sz="9200"/>
            </a:lvl9pPr>
          </a:lstStyle>
          <a:p>
            <a:r>
              <a:rPr lang="en-US"/>
              <a:t>Click icon to add picture</a:t>
            </a:r>
            <a:endParaRPr lang="en-US" dirty="0"/>
          </a:p>
        </p:txBody>
      </p:sp>
      <p:sp>
        <p:nvSpPr>
          <p:cNvPr id="4" name="Text Placeholder 3"/>
          <p:cNvSpPr>
            <a:spLocks noGrp="1"/>
          </p:cNvSpPr>
          <p:nvPr>
            <p:ph type="body" sz="half" idx="2"/>
          </p:nvPr>
        </p:nvSpPr>
        <p:spPr>
          <a:xfrm>
            <a:off x="2897269" y="9875520"/>
            <a:ext cx="13566219" cy="18295622"/>
          </a:xfrm>
        </p:spPr>
        <p:txBody>
          <a:bodyPr/>
          <a:lstStyle>
            <a:lvl1pPr marL="0" indent="0">
              <a:buNone/>
              <a:defRPr sz="7360"/>
            </a:lvl1pPr>
            <a:lvl2pPr marL="2103120" indent="0">
              <a:buNone/>
              <a:defRPr sz="6440"/>
            </a:lvl2pPr>
            <a:lvl3pPr marL="4206240" indent="0">
              <a:buNone/>
              <a:defRPr sz="5520"/>
            </a:lvl3pPr>
            <a:lvl4pPr marL="6309360" indent="0">
              <a:buNone/>
              <a:defRPr sz="4600"/>
            </a:lvl4pPr>
            <a:lvl5pPr marL="8412480" indent="0">
              <a:buNone/>
              <a:defRPr sz="4600"/>
            </a:lvl5pPr>
            <a:lvl6pPr marL="10515600" indent="0">
              <a:buNone/>
              <a:defRPr sz="4600"/>
            </a:lvl6pPr>
            <a:lvl7pPr marL="12618720" indent="0">
              <a:buNone/>
              <a:defRPr sz="4600"/>
            </a:lvl7pPr>
            <a:lvl8pPr marL="14721840" indent="0">
              <a:buNone/>
              <a:defRPr sz="4600"/>
            </a:lvl8pPr>
            <a:lvl9pPr marL="16824960" indent="0">
              <a:buNone/>
              <a:defRPr sz="4600"/>
            </a:lvl9pPr>
          </a:lstStyle>
          <a:p>
            <a:pPr lvl="0"/>
            <a:r>
              <a:rPr lang="en-US"/>
              <a:t>Click to edit Master text styles</a:t>
            </a:r>
          </a:p>
        </p:txBody>
      </p:sp>
      <p:sp>
        <p:nvSpPr>
          <p:cNvPr id="5" name="Date Placeholder 4"/>
          <p:cNvSpPr>
            <a:spLocks noGrp="1"/>
          </p:cNvSpPr>
          <p:nvPr>
            <p:ph type="dt" sz="half" idx="10"/>
          </p:nvPr>
        </p:nvSpPr>
        <p:spPr/>
        <p:txBody>
          <a:bodyPr/>
          <a:lstStyle/>
          <a:p>
            <a:fld id="{BC042257-F791-4CB5-B0AE-F5A64F3428AF}"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0B6767-C1AF-40CE-9E2B-CAD1C0DED760}" type="slidenum">
              <a:rPr lang="en-US" smtClean="0"/>
              <a:t>‹#›</a:t>
            </a:fld>
            <a:endParaRPr lang="en-US"/>
          </a:p>
        </p:txBody>
      </p:sp>
    </p:spTree>
    <p:extLst>
      <p:ext uri="{BB962C8B-B14F-4D97-AF65-F5344CB8AC3E}">
        <p14:creationId xmlns:p14="http://schemas.microsoft.com/office/powerpoint/2010/main" val="3729117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042257-F791-4CB5-B0AE-F5A64F3428AF}"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0B6767-C1AF-40CE-9E2B-CAD1C0DED760}" type="slidenum">
              <a:rPr lang="en-US" smtClean="0"/>
              <a:t>‹#›</a:t>
            </a:fld>
            <a:endParaRPr lang="en-US"/>
          </a:p>
        </p:txBody>
      </p:sp>
    </p:spTree>
    <p:extLst>
      <p:ext uri="{BB962C8B-B14F-4D97-AF65-F5344CB8AC3E}">
        <p14:creationId xmlns:p14="http://schemas.microsoft.com/office/powerpoint/2010/main" val="1232718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100907" y="1752600"/>
            <a:ext cx="9069705"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891792" y="1752600"/>
            <a:ext cx="26683335"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042257-F791-4CB5-B0AE-F5A64F3428AF}"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0B6767-C1AF-40CE-9E2B-CAD1C0DED760}" type="slidenum">
              <a:rPr lang="en-US" smtClean="0"/>
              <a:t>‹#›</a:t>
            </a:fld>
            <a:endParaRPr lang="en-US"/>
          </a:p>
        </p:txBody>
      </p:sp>
    </p:spTree>
    <p:extLst>
      <p:ext uri="{BB962C8B-B14F-4D97-AF65-F5344CB8AC3E}">
        <p14:creationId xmlns:p14="http://schemas.microsoft.com/office/powerpoint/2010/main" val="1106646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91790" y="1752607"/>
            <a:ext cx="3627882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891790" y="8763000"/>
            <a:ext cx="3627882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891790" y="30510487"/>
            <a:ext cx="9464040" cy="1752600"/>
          </a:xfrm>
          <a:prstGeom prst="rect">
            <a:avLst/>
          </a:prstGeom>
        </p:spPr>
        <p:txBody>
          <a:bodyPr vert="horz" lIns="91440" tIns="45720" rIns="91440" bIns="45720" rtlCol="0" anchor="ctr"/>
          <a:lstStyle>
            <a:lvl1pPr algn="l">
              <a:defRPr sz="5520">
                <a:solidFill>
                  <a:schemeClr val="tx1">
                    <a:tint val="82000"/>
                  </a:schemeClr>
                </a:solidFill>
              </a:defRPr>
            </a:lvl1pPr>
          </a:lstStyle>
          <a:p>
            <a:fld id="{BC042257-F791-4CB5-B0AE-F5A64F3428AF}" type="datetimeFigureOut">
              <a:rPr lang="en-US" smtClean="0"/>
              <a:t>9/15/26</a:t>
            </a:fld>
            <a:endParaRPr lang="en-US"/>
          </a:p>
        </p:txBody>
      </p:sp>
      <p:sp>
        <p:nvSpPr>
          <p:cNvPr id="5" name="Footer Placeholder 4"/>
          <p:cNvSpPr>
            <a:spLocks noGrp="1"/>
          </p:cNvSpPr>
          <p:nvPr>
            <p:ph type="ftr" sz="quarter" idx="3"/>
          </p:nvPr>
        </p:nvSpPr>
        <p:spPr>
          <a:xfrm>
            <a:off x="13933170" y="30510487"/>
            <a:ext cx="14196060" cy="1752600"/>
          </a:xfrm>
          <a:prstGeom prst="rect">
            <a:avLst/>
          </a:prstGeom>
        </p:spPr>
        <p:txBody>
          <a:bodyPr vert="horz" lIns="91440" tIns="45720" rIns="91440" bIns="45720" rtlCol="0" anchor="ctr"/>
          <a:lstStyle>
            <a:lvl1pPr algn="ctr">
              <a:defRPr sz="552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9706570" y="30510487"/>
            <a:ext cx="9464040" cy="1752600"/>
          </a:xfrm>
          <a:prstGeom prst="rect">
            <a:avLst/>
          </a:prstGeom>
        </p:spPr>
        <p:txBody>
          <a:bodyPr vert="horz" lIns="91440" tIns="45720" rIns="91440" bIns="45720" rtlCol="0" anchor="ctr"/>
          <a:lstStyle>
            <a:lvl1pPr algn="r">
              <a:defRPr sz="5520">
                <a:solidFill>
                  <a:schemeClr val="tx1">
                    <a:tint val="82000"/>
                  </a:schemeClr>
                </a:solidFill>
              </a:defRPr>
            </a:lvl1pPr>
          </a:lstStyle>
          <a:p>
            <a:fld id="{270B6767-C1AF-40CE-9E2B-CAD1C0DED760}" type="slidenum">
              <a:rPr lang="en-US" smtClean="0"/>
              <a:t>‹#›</a:t>
            </a:fld>
            <a:endParaRPr lang="en-US"/>
          </a:p>
        </p:txBody>
      </p:sp>
    </p:spTree>
    <p:extLst>
      <p:ext uri="{BB962C8B-B14F-4D97-AF65-F5344CB8AC3E}">
        <p14:creationId xmlns:p14="http://schemas.microsoft.com/office/powerpoint/2010/main" val="31863159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206240" rtl="0" eaLnBrk="1" latinLnBrk="0" hangingPunct="1">
        <a:lnSpc>
          <a:spcPct val="90000"/>
        </a:lnSpc>
        <a:spcBef>
          <a:spcPct val="0"/>
        </a:spcBef>
        <a:buNone/>
        <a:defRPr sz="20240" kern="1200">
          <a:solidFill>
            <a:schemeClr val="tx1"/>
          </a:solidFill>
          <a:latin typeface="+mj-lt"/>
          <a:ea typeface="+mj-ea"/>
          <a:cs typeface="+mj-cs"/>
        </a:defRPr>
      </a:lvl1pPr>
    </p:titleStyle>
    <p:bodyStyle>
      <a:lvl1pPr marL="1051560" indent="-1051560" algn="l" defTabSz="4206240" rtl="0" eaLnBrk="1" latinLnBrk="0" hangingPunct="1">
        <a:lnSpc>
          <a:spcPct val="90000"/>
        </a:lnSpc>
        <a:spcBef>
          <a:spcPts val="4600"/>
        </a:spcBef>
        <a:buFont typeface="Arial" panose="020B0604020202020204" pitchFamily="34" charset="0"/>
        <a:buChar char="•"/>
        <a:defRPr sz="12880" kern="1200">
          <a:solidFill>
            <a:schemeClr val="tx1"/>
          </a:solidFill>
          <a:latin typeface="+mn-lt"/>
          <a:ea typeface="+mn-ea"/>
          <a:cs typeface="+mn-cs"/>
        </a:defRPr>
      </a:lvl1pPr>
      <a:lvl2pPr marL="3154680" indent="-1051560" algn="l" defTabSz="4206240" rtl="0" eaLnBrk="1" latinLnBrk="0" hangingPunct="1">
        <a:lnSpc>
          <a:spcPct val="90000"/>
        </a:lnSpc>
        <a:spcBef>
          <a:spcPts val="2300"/>
        </a:spcBef>
        <a:buFont typeface="Arial" panose="020B0604020202020204" pitchFamily="34" charset="0"/>
        <a:buChar char="•"/>
        <a:defRPr sz="11040" kern="1200">
          <a:solidFill>
            <a:schemeClr val="tx1"/>
          </a:solidFill>
          <a:latin typeface="+mn-lt"/>
          <a:ea typeface="+mn-ea"/>
          <a:cs typeface="+mn-cs"/>
        </a:defRPr>
      </a:lvl2pPr>
      <a:lvl3pPr marL="5257800" indent="-1051560" algn="l" defTabSz="4206240" rtl="0" eaLnBrk="1" latinLnBrk="0" hangingPunct="1">
        <a:lnSpc>
          <a:spcPct val="90000"/>
        </a:lnSpc>
        <a:spcBef>
          <a:spcPts val="2300"/>
        </a:spcBef>
        <a:buFont typeface="Arial" panose="020B0604020202020204" pitchFamily="34" charset="0"/>
        <a:buChar char="•"/>
        <a:defRPr sz="9200" kern="1200">
          <a:solidFill>
            <a:schemeClr val="tx1"/>
          </a:solidFill>
          <a:latin typeface="+mn-lt"/>
          <a:ea typeface="+mn-ea"/>
          <a:cs typeface="+mn-cs"/>
        </a:defRPr>
      </a:lvl3pPr>
      <a:lvl4pPr marL="736092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4pPr>
      <a:lvl5pPr marL="946404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5pPr>
      <a:lvl6pPr marL="1156716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6pPr>
      <a:lvl7pPr marL="1367028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7pPr>
      <a:lvl8pPr marL="1577340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8pPr>
      <a:lvl9pPr marL="1787652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9pPr>
    </p:bodyStyle>
    <p:otherStyle>
      <a:defPPr>
        <a:defRPr lang="en-US"/>
      </a:defPPr>
      <a:lvl1pPr marL="0" algn="l" defTabSz="4206240" rtl="0" eaLnBrk="1" latinLnBrk="0" hangingPunct="1">
        <a:defRPr sz="8280" kern="1200">
          <a:solidFill>
            <a:schemeClr val="tx1"/>
          </a:solidFill>
          <a:latin typeface="+mn-lt"/>
          <a:ea typeface="+mn-ea"/>
          <a:cs typeface="+mn-cs"/>
        </a:defRPr>
      </a:lvl1pPr>
      <a:lvl2pPr marL="2103120" algn="l" defTabSz="4206240" rtl="0" eaLnBrk="1" latinLnBrk="0" hangingPunct="1">
        <a:defRPr sz="8280" kern="1200">
          <a:solidFill>
            <a:schemeClr val="tx1"/>
          </a:solidFill>
          <a:latin typeface="+mn-lt"/>
          <a:ea typeface="+mn-ea"/>
          <a:cs typeface="+mn-cs"/>
        </a:defRPr>
      </a:lvl2pPr>
      <a:lvl3pPr marL="4206240" algn="l" defTabSz="4206240" rtl="0" eaLnBrk="1" latinLnBrk="0" hangingPunct="1">
        <a:defRPr sz="8280" kern="1200">
          <a:solidFill>
            <a:schemeClr val="tx1"/>
          </a:solidFill>
          <a:latin typeface="+mn-lt"/>
          <a:ea typeface="+mn-ea"/>
          <a:cs typeface="+mn-cs"/>
        </a:defRPr>
      </a:lvl3pPr>
      <a:lvl4pPr marL="6309360" algn="l" defTabSz="4206240" rtl="0" eaLnBrk="1" latinLnBrk="0" hangingPunct="1">
        <a:defRPr sz="8280" kern="1200">
          <a:solidFill>
            <a:schemeClr val="tx1"/>
          </a:solidFill>
          <a:latin typeface="+mn-lt"/>
          <a:ea typeface="+mn-ea"/>
          <a:cs typeface="+mn-cs"/>
        </a:defRPr>
      </a:lvl4pPr>
      <a:lvl5pPr marL="8412480" algn="l" defTabSz="4206240" rtl="0" eaLnBrk="1" latinLnBrk="0" hangingPunct="1">
        <a:defRPr sz="8280" kern="1200">
          <a:solidFill>
            <a:schemeClr val="tx1"/>
          </a:solidFill>
          <a:latin typeface="+mn-lt"/>
          <a:ea typeface="+mn-ea"/>
          <a:cs typeface="+mn-cs"/>
        </a:defRPr>
      </a:lvl5pPr>
      <a:lvl6pPr marL="10515600" algn="l" defTabSz="4206240" rtl="0" eaLnBrk="1" latinLnBrk="0" hangingPunct="1">
        <a:defRPr sz="8280" kern="1200">
          <a:solidFill>
            <a:schemeClr val="tx1"/>
          </a:solidFill>
          <a:latin typeface="+mn-lt"/>
          <a:ea typeface="+mn-ea"/>
          <a:cs typeface="+mn-cs"/>
        </a:defRPr>
      </a:lvl6pPr>
      <a:lvl7pPr marL="12618720" algn="l" defTabSz="4206240" rtl="0" eaLnBrk="1" latinLnBrk="0" hangingPunct="1">
        <a:defRPr sz="8280" kern="1200">
          <a:solidFill>
            <a:schemeClr val="tx1"/>
          </a:solidFill>
          <a:latin typeface="+mn-lt"/>
          <a:ea typeface="+mn-ea"/>
          <a:cs typeface="+mn-cs"/>
        </a:defRPr>
      </a:lvl7pPr>
      <a:lvl8pPr marL="14721840" algn="l" defTabSz="4206240" rtl="0" eaLnBrk="1" latinLnBrk="0" hangingPunct="1">
        <a:defRPr sz="8280" kern="1200">
          <a:solidFill>
            <a:schemeClr val="tx1"/>
          </a:solidFill>
          <a:latin typeface="+mn-lt"/>
          <a:ea typeface="+mn-ea"/>
          <a:cs typeface="+mn-cs"/>
        </a:defRPr>
      </a:lvl8pPr>
      <a:lvl9pPr marL="16824960" algn="l" defTabSz="4206240" rtl="0" eaLnBrk="1" latinLnBrk="0" hangingPunct="1">
        <a:defRPr sz="82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image" Target="../media/image2.jpeg"/><Relationship Id="rId7" Type="http://schemas.openxmlformats.org/officeDocument/2006/relationships/chart" Target="../charts/chart2.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4.jpe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and white logo with orange text&#10;&#10;AI-generated content may be incorrect.">
            <a:extLst>
              <a:ext uri="{FF2B5EF4-FFF2-40B4-BE49-F238E27FC236}">
                <a16:creationId xmlns:a16="http://schemas.microsoft.com/office/drawing/2014/main" id="{55958749-624F-5EEF-0873-63D4970815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977782" y="734291"/>
            <a:ext cx="4038600" cy="4254500"/>
          </a:xfrm>
          <a:prstGeom prst="rect">
            <a:avLst/>
          </a:prstGeom>
        </p:spPr>
      </p:pic>
      <p:sp>
        <p:nvSpPr>
          <p:cNvPr id="6" name="Rectangle 5">
            <a:extLst>
              <a:ext uri="{FF2B5EF4-FFF2-40B4-BE49-F238E27FC236}">
                <a16:creationId xmlns:a16="http://schemas.microsoft.com/office/drawing/2014/main" id="{76E8EE0F-5634-50C7-D93E-07CA05398F40}"/>
              </a:ext>
            </a:extLst>
          </p:cNvPr>
          <p:cNvSpPr/>
          <p:nvPr/>
        </p:nvSpPr>
        <p:spPr>
          <a:xfrm>
            <a:off x="-249382" y="5446569"/>
            <a:ext cx="42561164" cy="498763"/>
          </a:xfrm>
          <a:prstGeom prst="rect">
            <a:avLst/>
          </a:prstGeom>
          <a:solidFill>
            <a:srgbClr val="D73F0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202B667-6462-B5CB-F795-57E940B3D54A}"/>
              </a:ext>
            </a:extLst>
          </p:cNvPr>
          <p:cNvSpPr/>
          <p:nvPr/>
        </p:nvSpPr>
        <p:spPr>
          <a:xfrm>
            <a:off x="-249382" y="-178954"/>
            <a:ext cx="42561164" cy="498763"/>
          </a:xfrm>
          <a:prstGeom prst="rect">
            <a:avLst/>
          </a:prstGeom>
          <a:solidFill>
            <a:srgbClr val="D73F0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5">
            <a:extLst>
              <a:ext uri="{FF2B5EF4-FFF2-40B4-BE49-F238E27FC236}">
                <a16:creationId xmlns:a16="http://schemas.microsoft.com/office/drawing/2014/main" id="{FEB846DC-CAF6-38FF-8302-3098A476C083}"/>
              </a:ext>
            </a:extLst>
          </p:cNvPr>
          <p:cNvSpPr txBox="1"/>
          <p:nvPr/>
        </p:nvSpPr>
        <p:spPr>
          <a:xfrm>
            <a:off x="8525096" y="969744"/>
            <a:ext cx="25012204" cy="4316279"/>
          </a:xfrm>
          <a:prstGeom prst="rect">
            <a:avLst/>
          </a:prstGeom>
        </p:spPr>
        <p:txBody>
          <a:bodyPr lIns="0" tIns="0" rIns="0" bIns="0">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defTabSz="3761086">
              <a:spcBef>
                <a:spcPct val="20000"/>
              </a:spcBef>
              <a:defRPr/>
            </a:pPr>
            <a:r>
              <a:rPr lang="en-US" sz="8000" b="1" dirty="0">
                <a:latin typeface="Stratum2 Black"/>
              </a:rPr>
              <a:t>Evaluating drought tolerance and critical moisture point of </a:t>
            </a:r>
            <a:r>
              <a:rPr lang="en-US" sz="8000" b="1" i="1" dirty="0">
                <a:latin typeface="Stratum2 Black"/>
              </a:rPr>
              <a:t>Pinus </a:t>
            </a:r>
            <a:r>
              <a:rPr lang="en-US" sz="8000" b="1" i="1" dirty="0" err="1">
                <a:latin typeface="Stratum2 Black"/>
              </a:rPr>
              <a:t>mugo</a:t>
            </a:r>
            <a:r>
              <a:rPr lang="en-US" sz="8000" b="1" i="1" dirty="0">
                <a:latin typeface="Stratum2 Black"/>
              </a:rPr>
              <a:t> </a:t>
            </a:r>
            <a:r>
              <a:rPr lang="en-US" sz="8000" b="1" dirty="0">
                <a:latin typeface="Stratum2 Black"/>
              </a:rPr>
              <a:t>potted in native silt loam soil</a:t>
            </a:r>
            <a:endParaRPr lang="en-US" sz="8000" b="1" dirty="0">
              <a:solidFill>
                <a:schemeClr val="tx1"/>
              </a:solidFill>
              <a:latin typeface="Stratum2 Black"/>
            </a:endParaRPr>
          </a:p>
        </p:txBody>
      </p:sp>
      <p:sp>
        <p:nvSpPr>
          <p:cNvPr id="16" name="TextBox 19">
            <a:extLst>
              <a:ext uri="{FF2B5EF4-FFF2-40B4-BE49-F238E27FC236}">
                <a16:creationId xmlns:a16="http://schemas.microsoft.com/office/drawing/2014/main" id="{462531AC-4BE6-A71A-EABC-8B0BCCD3CCAC}"/>
              </a:ext>
            </a:extLst>
          </p:cNvPr>
          <p:cNvSpPr txBox="1">
            <a:spLocks noChangeArrowheads="1"/>
          </p:cNvSpPr>
          <p:nvPr/>
        </p:nvSpPr>
        <p:spPr bwMode="auto">
          <a:xfrm>
            <a:off x="28973570" y="7825926"/>
            <a:ext cx="11541134" cy="14135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3200" dirty="0">
                <a:latin typeface="Georgia" panose="02040502050405020303" pitchFamily="18" charset="0"/>
              </a:rPr>
              <a:t>The interaction between time and irrigation had a significant effect on Mugo pine quality and NDVI (Figure 1A and 1B). As of February 27, 2026, all control treatments died, while all other treatments were acceptable or high quality. All treatments that received irrigation, regardless of the kPa threshold level, produced very high NDVI values of 0.8 or greater, with 1.0 being the highest possible reading, and high visual quality ratings suggesting that irrigation applied when tensiometer readings reached 60-80 kPa or a volumetric water content of 6.4 to 7.5% was adequate to sustain </a:t>
            </a:r>
            <a:r>
              <a:rPr lang="en-US" sz="3200" dirty="0" err="1">
                <a:latin typeface="Georgia" panose="02040502050405020303" pitchFamily="18" charset="0"/>
              </a:rPr>
              <a:t>mugo</a:t>
            </a:r>
            <a:r>
              <a:rPr lang="en-US" sz="3200" dirty="0">
                <a:latin typeface="Georgia" panose="02040502050405020303" pitchFamily="18" charset="0"/>
              </a:rPr>
              <a:t> pine.</a:t>
            </a:r>
          </a:p>
          <a:p>
            <a:pPr>
              <a:lnSpc>
                <a:spcPct val="110000"/>
              </a:lnSpc>
            </a:pPr>
            <a:endParaRPr lang="en-US" sz="3200" dirty="0">
              <a:latin typeface="Georgia" panose="02040502050405020303" pitchFamily="18" charset="0"/>
            </a:endParaRPr>
          </a:p>
          <a:p>
            <a:pPr algn="just">
              <a:lnSpc>
                <a:spcPct val="110000"/>
              </a:lnSpc>
            </a:pPr>
            <a:r>
              <a:rPr lang="en-US" sz="3200" dirty="0">
                <a:latin typeface="Georgia" panose="02040502050405020303" pitchFamily="18" charset="0"/>
              </a:rPr>
              <a:t>Irrigation treatments that maintain soil volumetric water content above 5.8% keep ‘Pumilio’ Mugo pine alive (Figure 1C). When irrigation was not applied and volumetric water content were less than 5.8% the Mugo pines died. This corresponded to the control (no irrigation) treatments on Feb 11, 2026, just over 30 days without irrigation. It is important to note that the 60-80 kPa irrigation threshold treatments regularly reached as low as 5.9% between irrigation events. Major reduction in quality were observed on Feb 11, 2026, and significant reductions in NDVI started short after (Feb 13, 2026). The 60-80 kPa irrigation threshold also maintained the soil moisture at an average level of 9.9%, while the 50-60 kPa and 40-50 kPa irrigation thresholds resulted in an average volumetric water content of 10.5% and 12.0%, respectively. </a:t>
            </a:r>
          </a:p>
          <a:p>
            <a:pPr>
              <a:lnSpc>
                <a:spcPct val="110000"/>
              </a:lnSpc>
            </a:pPr>
            <a:endParaRPr lang="en-US" sz="3200" dirty="0">
              <a:latin typeface="Georgia" panose="02040502050405020303" pitchFamily="18" charset="0"/>
              <a:cs typeface="Arial" pitchFamily="34" charset="0"/>
            </a:endParaRPr>
          </a:p>
        </p:txBody>
      </p:sp>
      <p:sp>
        <p:nvSpPr>
          <p:cNvPr id="18" name="TextBox 19">
            <a:extLst>
              <a:ext uri="{FF2B5EF4-FFF2-40B4-BE49-F238E27FC236}">
                <a16:creationId xmlns:a16="http://schemas.microsoft.com/office/drawing/2014/main" id="{D4C7A8DD-EFAA-A26C-1773-BA3040058FA8}"/>
              </a:ext>
            </a:extLst>
          </p:cNvPr>
          <p:cNvSpPr txBox="1">
            <a:spLocks noChangeArrowheads="1"/>
          </p:cNvSpPr>
          <p:nvPr/>
        </p:nvSpPr>
        <p:spPr bwMode="auto">
          <a:xfrm>
            <a:off x="29133928" y="31468007"/>
            <a:ext cx="11818954" cy="593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3200" dirty="0">
                <a:latin typeface="Georgia" panose="02040502050405020303" pitchFamily="18" charset="0"/>
                <a:cs typeface="Arial" pitchFamily="34" charset="0"/>
              </a:rPr>
              <a:t>Funding provided by Stevens Water Monitoring Systems Inc. </a:t>
            </a:r>
          </a:p>
        </p:txBody>
      </p:sp>
      <p:sp>
        <p:nvSpPr>
          <p:cNvPr id="26" name="Rectangle 11">
            <a:extLst>
              <a:ext uri="{FF2B5EF4-FFF2-40B4-BE49-F238E27FC236}">
                <a16:creationId xmlns:a16="http://schemas.microsoft.com/office/drawing/2014/main" id="{21BEAAD4-E9A9-81FA-ADF0-9CBF24577C9E}"/>
              </a:ext>
            </a:extLst>
          </p:cNvPr>
          <p:cNvSpPr>
            <a:spLocks noChangeArrowheads="1"/>
          </p:cNvSpPr>
          <p:nvPr/>
        </p:nvSpPr>
        <p:spPr bwMode="auto">
          <a:xfrm>
            <a:off x="879462" y="7904404"/>
            <a:ext cx="11541135"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3200" dirty="0">
                <a:latin typeface="Georgia" panose="02040502050405020303" pitchFamily="18" charset="0"/>
              </a:rPr>
              <a:t>Identifying critical water content levels is essential for cultivating pot grown conifers, like Mugo pine (Pinus </a:t>
            </a:r>
            <a:r>
              <a:rPr lang="en-US" sz="3200" dirty="0" err="1">
                <a:latin typeface="Georgia" panose="02040502050405020303" pitchFamily="18" charset="0"/>
              </a:rPr>
              <a:t>mugo</a:t>
            </a:r>
            <a:r>
              <a:rPr lang="en-US" sz="3200" dirty="0">
                <a:latin typeface="Georgia" panose="02040502050405020303" pitchFamily="18" charset="0"/>
              </a:rPr>
              <a:t>), as drought stress in these species is often not visual until after the plant has been irreversibly damaged. In-pot cultivation requires careful monitoring of soil moisture levels for the proper care of different economically significant landscape species. Mugo pine is a slow-growing and drought tolerant species commonly seen in both commercial and residential landscapes.</a:t>
            </a:r>
          </a:p>
          <a:p>
            <a:endParaRPr lang="en-US" sz="3200" dirty="0">
              <a:latin typeface="Georgia" panose="02040502050405020303" pitchFamily="18" charset="0"/>
            </a:endParaRPr>
          </a:p>
        </p:txBody>
      </p:sp>
      <p:sp>
        <p:nvSpPr>
          <p:cNvPr id="30" name="Text Placeholder 5">
            <a:extLst>
              <a:ext uri="{FF2B5EF4-FFF2-40B4-BE49-F238E27FC236}">
                <a16:creationId xmlns:a16="http://schemas.microsoft.com/office/drawing/2014/main" id="{6F4C267F-DF38-23DE-5D28-1847753A6777}"/>
              </a:ext>
            </a:extLst>
          </p:cNvPr>
          <p:cNvSpPr txBox="1"/>
          <p:nvPr/>
        </p:nvSpPr>
        <p:spPr>
          <a:xfrm>
            <a:off x="3467097" y="3790257"/>
            <a:ext cx="35128203" cy="1378839"/>
          </a:xfrm>
          <a:prstGeom prst="rect">
            <a:avLst/>
          </a:prstGeom>
        </p:spPr>
        <p:txBody>
          <a:bodyPr lIns="0" tIns="0" rIns="0" bIns="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defRPr/>
            </a:pPr>
            <a:r>
              <a:rPr lang="en-US" sz="5600" b="1" dirty="0">
                <a:solidFill>
                  <a:schemeClr val="tx1"/>
                </a:solidFill>
                <a:latin typeface="Stratum2 Black"/>
                <a:cs typeface="Arial" pitchFamily="34" charset="0"/>
              </a:rPr>
              <a:t>S.B. Leffler, A.R. Kowalewski, B.K. Bellingham</a:t>
            </a:r>
          </a:p>
          <a:p>
            <a:pPr algn="ctr">
              <a:defRPr/>
            </a:pPr>
            <a:r>
              <a:rPr lang="en-US" sz="2800" dirty="0">
                <a:latin typeface="Stratum2 Black"/>
              </a:rPr>
              <a:t>Department of Horticulture, Oregon State University, Corvallis, OR 97331, U.S.A</a:t>
            </a:r>
            <a:endParaRPr lang="en-US" sz="2800" b="1" dirty="0">
              <a:solidFill>
                <a:schemeClr val="tx1"/>
              </a:solidFill>
              <a:latin typeface="Stratum2 Black"/>
              <a:cs typeface="Arial" pitchFamily="34" charset="0"/>
            </a:endParaRPr>
          </a:p>
        </p:txBody>
      </p:sp>
      <p:sp>
        <p:nvSpPr>
          <p:cNvPr id="34" name="Rectangle 33">
            <a:extLst>
              <a:ext uri="{FF2B5EF4-FFF2-40B4-BE49-F238E27FC236}">
                <a16:creationId xmlns:a16="http://schemas.microsoft.com/office/drawing/2014/main" id="{E951F489-C519-43D6-CC6B-D27DC459E522}"/>
              </a:ext>
            </a:extLst>
          </p:cNvPr>
          <p:cNvSpPr/>
          <p:nvPr/>
        </p:nvSpPr>
        <p:spPr>
          <a:xfrm>
            <a:off x="817565" y="6532605"/>
            <a:ext cx="11603033" cy="1092782"/>
          </a:xfrm>
          <a:prstGeom prst="rect">
            <a:avLst/>
          </a:prstGeom>
          <a:solidFill>
            <a:srgbClr val="D73F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atin typeface="Georgia" panose="02040502050405020303" pitchFamily="18" charset="0"/>
              </a:rPr>
              <a:t>Introduction</a:t>
            </a:r>
          </a:p>
        </p:txBody>
      </p:sp>
      <p:sp>
        <p:nvSpPr>
          <p:cNvPr id="36" name="Rectangle 35">
            <a:extLst>
              <a:ext uri="{FF2B5EF4-FFF2-40B4-BE49-F238E27FC236}">
                <a16:creationId xmlns:a16="http://schemas.microsoft.com/office/drawing/2014/main" id="{B4F28129-0520-BF6C-985F-8B8849D83CEA}"/>
              </a:ext>
            </a:extLst>
          </p:cNvPr>
          <p:cNvSpPr/>
          <p:nvPr/>
        </p:nvSpPr>
        <p:spPr>
          <a:xfrm>
            <a:off x="774193" y="12674105"/>
            <a:ext cx="11603031" cy="1092782"/>
          </a:xfrm>
          <a:prstGeom prst="rect">
            <a:avLst/>
          </a:prstGeom>
          <a:solidFill>
            <a:srgbClr val="D73F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atin typeface="Georgia" panose="02040502050405020303" pitchFamily="18" charset="0"/>
              </a:rPr>
              <a:t>Objective</a:t>
            </a:r>
          </a:p>
        </p:txBody>
      </p:sp>
      <p:sp>
        <p:nvSpPr>
          <p:cNvPr id="39" name="TextBox 38">
            <a:extLst>
              <a:ext uri="{FF2B5EF4-FFF2-40B4-BE49-F238E27FC236}">
                <a16:creationId xmlns:a16="http://schemas.microsoft.com/office/drawing/2014/main" id="{B465BCEF-511C-1517-85CB-BF5AAB418860}"/>
              </a:ext>
            </a:extLst>
          </p:cNvPr>
          <p:cNvSpPr txBox="1"/>
          <p:nvPr/>
        </p:nvSpPr>
        <p:spPr>
          <a:xfrm>
            <a:off x="751361" y="14224884"/>
            <a:ext cx="11561766" cy="1569660"/>
          </a:xfrm>
          <a:prstGeom prst="rect">
            <a:avLst/>
          </a:prstGeom>
          <a:noFill/>
        </p:spPr>
        <p:txBody>
          <a:bodyPr wrap="square">
            <a:spAutoFit/>
          </a:bodyPr>
          <a:lstStyle/>
          <a:p>
            <a:pPr algn="just"/>
            <a:r>
              <a:rPr lang="en-US" sz="3200" dirty="0">
                <a:latin typeface="Georgia" panose="02040502050405020303" pitchFamily="18" charset="0"/>
              </a:rPr>
              <a:t>The objective of this research was to establish critical moisture levels for potted ‘Pumilio’ Mugo pine determined using root suction (kPa) and volumetric water content (%). </a:t>
            </a:r>
          </a:p>
        </p:txBody>
      </p:sp>
      <p:pic>
        <p:nvPicPr>
          <p:cNvPr id="43" name="Picture 42">
            <a:extLst>
              <a:ext uri="{FF2B5EF4-FFF2-40B4-BE49-F238E27FC236}">
                <a16:creationId xmlns:a16="http://schemas.microsoft.com/office/drawing/2014/main" id="{715E3431-8A9F-4D4D-8CCE-A3D1D1D2ABDC}"/>
              </a:ext>
            </a:extLst>
          </p:cNvPr>
          <p:cNvPicPr>
            <a:picLocks noChangeAspect="1"/>
          </p:cNvPicPr>
          <p:nvPr/>
        </p:nvPicPr>
        <p:blipFill>
          <a:blip r:embed="rId3">
            <a:extLst>
              <a:ext uri="{28A0092B-C50C-407E-A947-70E740481C1C}">
                <a14:useLocalDpi xmlns:a14="http://schemas.microsoft.com/office/drawing/2010/main" val="0"/>
              </a:ext>
            </a:extLst>
          </a:blip>
          <a:srcRect l="16546" r="33333"/>
          <a:stretch>
            <a:fillRect/>
          </a:stretch>
        </p:blipFill>
        <p:spPr>
          <a:xfrm rot="5400000">
            <a:off x="7629451" y="25223120"/>
            <a:ext cx="4108443" cy="6147786"/>
          </a:xfrm>
          <a:prstGeom prst="rect">
            <a:avLst/>
          </a:prstGeom>
        </p:spPr>
      </p:pic>
      <p:sp>
        <p:nvSpPr>
          <p:cNvPr id="45" name="Rectangle 44">
            <a:extLst>
              <a:ext uri="{FF2B5EF4-FFF2-40B4-BE49-F238E27FC236}">
                <a16:creationId xmlns:a16="http://schemas.microsoft.com/office/drawing/2014/main" id="{271CDA6E-CECF-DE92-289F-24ADA30F410B}"/>
              </a:ext>
            </a:extLst>
          </p:cNvPr>
          <p:cNvSpPr/>
          <p:nvPr/>
        </p:nvSpPr>
        <p:spPr>
          <a:xfrm>
            <a:off x="28867900" y="6631389"/>
            <a:ext cx="11541134" cy="993998"/>
          </a:xfrm>
          <a:prstGeom prst="rect">
            <a:avLst/>
          </a:prstGeom>
          <a:solidFill>
            <a:srgbClr val="D73F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atin typeface="Georgia" panose="02040502050405020303" pitchFamily="18" charset="0"/>
              </a:rPr>
              <a:t>Results</a:t>
            </a:r>
          </a:p>
        </p:txBody>
      </p:sp>
      <p:sp>
        <p:nvSpPr>
          <p:cNvPr id="47" name="Rectangle 46">
            <a:extLst>
              <a:ext uri="{FF2B5EF4-FFF2-40B4-BE49-F238E27FC236}">
                <a16:creationId xmlns:a16="http://schemas.microsoft.com/office/drawing/2014/main" id="{BBE5C7F0-8DD5-3ADC-A7D9-14CB67FF4626}"/>
              </a:ext>
            </a:extLst>
          </p:cNvPr>
          <p:cNvSpPr/>
          <p:nvPr/>
        </p:nvSpPr>
        <p:spPr>
          <a:xfrm>
            <a:off x="29241888" y="30262307"/>
            <a:ext cx="11603033" cy="1092782"/>
          </a:xfrm>
          <a:prstGeom prst="rect">
            <a:avLst/>
          </a:prstGeom>
          <a:solidFill>
            <a:srgbClr val="D73F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atin typeface="Georgia" panose="02040502050405020303" pitchFamily="18" charset="0"/>
              </a:rPr>
              <a:t>Acknowledgements</a:t>
            </a:r>
          </a:p>
        </p:txBody>
      </p:sp>
      <p:sp>
        <p:nvSpPr>
          <p:cNvPr id="49" name="Rectangle 48">
            <a:extLst>
              <a:ext uri="{FF2B5EF4-FFF2-40B4-BE49-F238E27FC236}">
                <a16:creationId xmlns:a16="http://schemas.microsoft.com/office/drawing/2014/main" id="{16F2AF36-49E0-6B87-41B8-33D9CFBBF243}"/>
              </a:ext>
            </a:extLst>
          </p:cNvPr>
          <p:cNvSpPr/>
          <p:nvPr/>
        </p:nvSpPr>
        <p:spPr>
          <a:xfrm>
            <a:off x="751361" y="16199727"/>
            <a:ext cx="11561766" cy="1131003"/>
          </a:xfrm>
          <a:prstGeom prst="rect">
            <a:avLst/>
          </a:prstGeom>
          <a:solidFill>
            <a:srgbClr val="D73F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atin typeface="Georgia" panose="02040502050405020303" pitchFamily="18" charset="0"/>
              </a:rPr>
              <a:t>Materials and Methods</a:t>
            </a:r>
          </a:p>
        </p:txBody>
      </p:sp>
      <p:sp>
        <p:nvSpPr>
          <p:cNvPr id="53" name="TextBox 52">
            <a:extLst>
              <a:ext uri="{FF2B5EF4-FFF2-40B4-BE49-F238E27FC236}">
                <a16:creationId xmlns:a16="http://schemas.microsoft.com/office/drawing/2014/main" id="{F32033ED-26E9-58B3-AF82-52ABFBD47CE3}"/>
              </a:ext>
            </a:extLst>
          </p:cNvPr>
          <p:cNvSpPr txBox="1"/>
          <p:nvPr/>
        </p:nvSpPr>
        <p:spPr>
          <a:xfrm>
            <a:off x="833403" y="17753617"/>
            <a:ext cx="11561766" cy="8463855"/>
          </a:xfrm>
          <a:prstGeom prst="rect">
            <a:avLst/>
          </a:prstGeom>
          <a:noFill/>
        </p:spPr>
        <p:txBody>
          <a:bodyPr wrap="square" rtlCol="0">
            <a:spAutoFit/>
          </a:bodyPr>
          <a:lstStyle/>
          <a:p>
            <a:pPr algn="just"/>
            <a:r>
              <a:rPr lang="en-US" sz="3200" dirty="0">
                <a:latin typeface="Georgia" panose="02040502050405020303" pitchFamily="18" charset="0"/>
              </a:rPr>
              <a:t>Experimental design was a randomized complete block with three replications. Treatments included irrigation events applied when SAGE readings reached the following threshold levels: 40-50, 50-60, and 60-80 kPa, compared to a no irrigation control. Irrigation treatments were initiated 2 January 2026. </a:t>
            </a:r>
          </a:p>
          <a:p>
            <a:endParaRPr lang="en-US" sz="3200" dirty="0">
              <a:latin typeface="Georgia" panose="02040502050405020303" pitchFamily="18" charset="0"/>
            </a:endParaRPr>
          </a:p>
          <a:p>
            <a:pPr algn="just"/>
            <a:r>
              <a:rPr lang="en-US" sz="3200" dirty="0">
                <a:latin typeface="Georgia" panose="02040502050405020303" pitchFamily="18" charset="0"/>
              </a:rPr>
              <a:t>Response variables included normalized difference vegetation index (NDVI) and visual plant health (1-9, 1 = dead and 9 greatest quality possible) ratings collected weekly, and soil water tension (kPa) and volumetric water content recorded every Monday, Wednesday and Friday (Image 1). Soil water tension was monitored using the SAGE (Stevens Water Monitoring Systems Inc, Portland, OR), while volumetric water content was monitored using the Hydra Probe System (Stevens Water Monitoring Systems Inc, Portland, OR). Both were placed within each potted plant at a 8 cm depth. </a:t>
            </a:r>
          </a:p>
        </p:txBody>
      </p:sp>
      <p:sp>
        <p:nvSpPr>
          <p:cNvPr id="4" name="TextBox 3">
            <a:extLst>
              <a:ext uri="{FF2B5EF4-FFF2-40B4-BE49-F238E27FC236}">
                <a16:creationId xmlns:a16="http://schemas.microsoft.com/office/drawing/2014/main" id="{DA882035-5558-BD89-30A9-7486F2934B8F}"/>
              </a:ext>
            </a:extLst>
          </p:cNvPr>
          <p:cNvSpPr txBox="1"/>
          <p:nvPr/>
        </p:nvSpPr>
        <p:spPr>
          <a:xfrm>
            <a:off x="13639986" y="29333235"/>
            <a:ext cx="14998332" cy="3046988"/>
          </a:xfrm>
          <a:prstGeom prst="rect">
            <a:avLst/>
          </a:prstGeom>
          <a:noFill/>
        </p:spPr>
        <p:txBody>
          <a:bodyPr wrap="square">
            <a:spAutoFit/>
          </a:bodyPr>
          <a:lstStyle/>
          <a:p>
            <a:pPr marL="228600" marR="0" indent="-228600" algn="just">
              <a:buNone/>
            </a:pPr>
            <a:r>
              <a:rPr lang="en-US" sz="3200" b="1" dirty="0">
                <a:effectLst/>
                <a:latin typeface="Aptos" panose="020B0004020202020204" pitchFamily="34" charset="0"/>
                <a:ea typeface="Aptos" panose="020B0004020202020204" pitchFamily="34" charset="0"/>
                <a:cs typeface="Aptos" panose="020B0004020202020204" pitchFamily="34" charset="0"/>
              </a:rPr>
              <a:t>Figure 1: </a:t>
            </a:r>
            <a:r>
              <a:rPr lang="en-US" sz="3200" dirty="0">
                <a:effectLst/>
                <a:latin typeface="Aptos" panose="020B0004020202020204" pitchFamily="34" charset="0"/>
                <a:ea typeface="Aptos" panose="020B0004020202020204" pitchFamily="34" charset="0"/>
                <a:cs typeface="Aptos" panose="020B0004020202020204" pitchFamily="34" charset="0"/>
              </a:rPr>
              <a:t> Effects of SAGE irrigation threshold value over time on ‘Pumilio’ Mugo pine visual quality (A), NDVI (B), and soil volumetric water </a:t>
            </a:r>
            <a:r>
              <a:rPr lang="en-US" sz="3200" dirty="0" err="1">
                <a:effectLst/>
                <a:latin typeface="Aptos" panose="020B0004020202020204" pitchFamily="34" charset="0"/>
                <a:ea typeface="Aptos" panose="020B0004020202020204" pitchFamily="34" charset="0"/>
                <a:cs typeface="Aptos" panose="020B0004020202020204" pitchFamily="34" charset="0"/>
              </a:rPr>
              <a:t>cotent</a:t>
            </a:r>
            <a:r>
              <a:rPr lang="en-US" sz="3200" dirty="0">
                <a:effectLst/>
                <a:latin typeface="Aptos" panose="020B0004020202020204" pitchFamily="34" charset="0"/>
                <a:ea typeface="Aptos" panose="020B0004020202020204" pitchFamily="34" charset="0"/>
                <a:cs typeface="Aptos" panose="020B0004020202020204" pitchFamily="34" charset="0"/>
              </a:rPr>
              <a:t> (C) over time 9 Jan to 8 May 2026 in Corvallis, OR, grown in greenhouse conditions. Irrigation rates average 1.5” per plant applied when the SAGE threshold values were reached; control = no irrigation. Overlapping error bars are not significantly different at 0.05 level of probability. </a:t>
            </a:r>
          </a:p>
        </p:txBody>
      </p:sp>
      <p:sp>
        <p:nvSpPr>
          <p:cNvPr id="9" name="TextBox 8">
            <a:extLst>
              <a:ext uri="{FF2B5EF4-FFF2-40B4-BE49-F238E27FC236}">
                <a16:creationId xmlns:a16="http://schemas.microsoft.com/office/drawing/2014/main" id="{0394DB5B-4978-7AF2-F280-4248E0A1D88A}"/>
              </a:ext>
            </a:extLst>
          </p:cNvPr>
          <p:cNvSpPr txBox="1"/>
          <p:nvPr/>
        </p:nvSpPr>
        <p:spPr>
          <a:xfrm>
            <a:off x="774193" y="30418472"/>
            <a:ext cx="12491258" cy="2062103"/>
          </a:xfrm>
          <a:prstGeom prst="rect">
            <a:avLst/>
          </a:prstGeom>
          <a:noFill/>
        </p:spPr>
        <p:txBody>
          <a:bodyPr wrap="square">
            <a:spAutoFit/>
          </a:bodyPr>
          <a:lstStyle/>
          <a:p>
            <a:pPr marL="228600" marR="0" indent="-228600">
              <a:buNone/>
            </a:pPr>
            <a:r>
              <a:rPr lang="en-US" sz="3200" b="1" dirty="0">
                <a:latin typeface="Aptos" panose="020B0004020202020204" pitchFamily="34" charset="0"/>
                <a:ea typeface="Aptos" panose="020B0004020202020204" pitchFamily="34" charset="0"/>
                <a:cs typeface="Aptos" panose="020B0004020202020204" pitchFamily="34" charset="0"/>
              </a:rPr>
              <a:t>Figure 1: </a:t>
            </a:r>
            <a:r>
              <a:rPr lang="en-US" sz="3200" dirty="0">
                <a:latin typeface="Aptos" panose="020B0004020202020204" pitchFamily="34" charset="0"/>
                <a:ea typeface="Aptos" panose="020B0004020202020204" pitchFamily="34" charset="0"/>
                <a:cs typeface="Aptos" panose="020B0004020202020204" pitchFamily="34" charset="0"/>
              </a:rPr>
              <a:t>Normalized difference vegetation index quantified using the Field Scout CM 1000 NDVI Meter (left), and soil water tension (kPa) monitored using the SAGE, pot-grown Mugo pine in Corvallis, OR in January 2026.   </a:t>
            </a:r>
            <a:endParaRPr lang="en-US" sz="3200" b="1" dirty="0">
              <a:effectLst/>
              <a:latin typeface="Aptos" panose="020B0004020202020204" pitchFamily="34" charset="0"/>
              <a:ea typeface="Aptos" panose="020B0004020202020204" pitchFamily="34" charset="0"/>
              <a:cs typeface="Aptos" panose="020B0004020202020204" pitchFamily="34" charset="0"/>
            </a:endParaRPr>
          </a:p>
        </p:txBody>
      </p:sp>
      <p:pic>
        <p:nvPicPr>
          <p:cNvPr id="11" name="Picture 10">
            <a:extLst>
              <a:ext uri="{FF2B5EF4-FFF2-40B4-BE49-F238E27FC236}">
                <a16:creationId xmlns:a16="http://schemas.microsoft.com/office/drawing/2014/main" id="{523E00FE-7E50-E4C1-2B36-55934620E898}"/>
              </a:ext>
            </a:extLst>
          </p:cNvPr>
          <p:cNvPicPr>
            <a:picLocks noChangeAspect="1"/>
          </p:cNvPicPr>
          <p:nvPr/>
        </p:nvPicPr>
        <p:blipFill>
          <a:blip r:embed="rId4">
            <a:extLst>
              <a:ext uri="{28A0092B-C50C-407E-A947-70E740481C1C}">
                <a14:useLocalDpi xmlns:a14="http://schemas.microsoft.com/office/drawing/2010/main" val="0"/>
              </a:ext>
            </a:extLst>
          </a:blip>
          <a:srcRect t="14969" b="37074"/>
          <a:stretch>
            <a:fillRect/>
          </a:stretch>
        </p:blipFill>
        <p:spPr>
          <a:xfrm>
            <a:off x="888647" y="26266598"/>
            <a:ext cx="5527393" cy="4108442"/>
          </a:xfrm>
          <a:prstGeom prst="rect">
            <a:avLst/>
          </a:prstGeom>
        </p:spPr>
      </p:pic>
      <p:pic>
        <p:nvPicPr>
          <p:cNvPr id="13" name="Picture 12">
            <a:extLst>
              <a:ext uri="{FF2B5EF4-FFF2-40B4-BE49-F238E27FC236}">
                <a16:creationId xmlns:a16="http://schemas.microsoft.com/office/drawing/2014/main" id="{17C22954-1BD9-6F18-3F37-451E785051AF}"/>
              </a:ext>
            </a:extLst>
          </p:cNvPr>
          <p:cNvPicPr>
            <a:picLocks noChangeAspect="1"/>
          </p:cNvPicPr>
          <p:nvPr/>
        </p:nvPicPr>
        <p:blipFill>
          <a:blip r:embed="rId5">
            <a:extLst>
              <a:ext uri="{28A0092B-C50C-407E-A947-70E740481C1C}">
                <a14:useLocalDpi xmlns:a14="http://schemas.microsoft.com/office/drawing/2010/main" val="0"/>
              </a:ext>
            </a:extLst>
          </a:blip>
          <a:srcRect t="16764" b="11644"/>
          <a:stretch>
            <a:fillRect/>
          </a:stretch>
        </p:blipFill>
        <p:spPr>
          <a:xfrm>
            <a:off x="29068044" y="22267568"/>
            <a:ext cx="11724480" cy="6147076"/>
          </a:xfrm>
          <a:prstGeom prst="rect">
            <a:avLst/>
          </a:prstGeom>
        </p:spPr>
      </p:pic>
      <p:sp>
        <p:nvSpPr>
          <p:cNvPr id="21" name="TextBox 20">
            <a:extLst>
              <a:ext uri="{FF2B5EF4-FFF2-40B4-BE49-F238E27FC236}">
                <a16:creationId xmlns:a16="http://schemas.microsoft.com/office/drawing/2014/main" id="{B9A63D8C-49D5-8017-B2A5-03DBAEB3EBDD}"/>
              </a:ext>
            </a:extLst>
          </p:cNvPr>
          <p:cNvSpPr txBox="1"/>
          <p:nvPr/>
        </p:nvSpPr>
        <p:spPr>
          <a:xfrm>
            <a:off x="28973570" y="28560761"/>
            <a:ext cx="11818954" cy="1077218"/>
          </a:xfrm>
          <a:prstGeom prst="rect">
            <a:avLst/>
          </a:prstGeom>
          <a:noFill/>
        </p:spPr>
        <p:txBody>
          <a:bodyPr wrap="square">
            <a:spAutoFit/>
          </a:bodyPr>
          <a:lstStyle/>
          <a:p>
            <a:pPr marL="228600" marR="0" indent="-228600" algn="just">
              <a:buNone/>
            </a:pPr>
            <a:r>
              <a:rPr lang="en-US" sz="3200" b="1" dirty="0">
                <a:latin typeface="Aptos" panose="020B0004020202020204" pitchFamily="34" charset="0"/>
                <a:ea typeface="Aptos" panose="020B0004020202020204" pitchFamily="34" charset="0"/>
                <a:cs typeface="Aptos" panose="020B0004020202020204" pitchFamily="34" charset="0"/>
              </a:rPr>
              <a:t>Figure 2: I</a:t>
            </a:r>
            <a:r>
              <a:rPr lang="en-US" sz="3200" dirty="0">
                <a:latin typeface="Aptos" panose="020B0004020202020204" pitchFamily="34" charset="0"/>
                <a:ea typeface="Aptos" panose="020B0004020202020204" pitchFamily="34" charset="0"/>
                <a:cs typeface="Aptos" panose="020B0004020202020204" pitchFamily="34" charset="0"/>
              </a:rPr>
              <a:t>rrigated Mugo pine (green plants) and non-irrigated Mugo pine (brown plants) on 4 March 2026 in Corvallis, OR.    </a:t>
            </a:r>
            <a:endParaRPr lang="en-US" sz="3200" b="1" dirty="0">
              <a:effectLst/>
              <a:latin typeface="Aptos" panose="020B0004020202020204" pitchFamily="34" charset="0"/>
              <a:ea typeface="Aptos" panose="020B0004020202020204" pitchFamily="34" charset="0"/>
              <a:cs typeface="Aptos" panose="020B0004020202020204" pitchFamily="34" charset="0"/>
            </a:endParaRPr>
          </a:p>
        </p:txBody>
      </p:sp>
      <p:graphicFrame>
        <p:nvGraphicFramePr>
          <p:cNvPr id="3" name="Chart 2">
            <a:extLst>
              <a:ext uri="{FF2B5EF4-FFF2-40B4-BE49-F238E27FC236}">
                <a16:creationId xmlns:a16="http://schemas.microsoft.com/office/drawing/2014/main" id="{213F4228-02F4-7CFF-EC43-74FE8C7BAD78}"/>
              </a:ext>
            </a:extLst>
          </p:cNvPr>
          <p:cNvGraphicFramePr/>
          <p:nvPr>
            <p:extLst>
              <p:ext uri="{D42A27DB-BD31-4B8C-83A1-F6EECF244321}">
                <p14:modId xmlns:p14="http://schemas.microsoft.com/office/powerpoint/2010/main" val="2836932050"/>
              </p:ext>
            </p:extLst>
          </p:nvPr>
        </p:nvGraphicFramePr>
        <p:xfrm>
          <a:off x="12813996" y="6718497"/>
          <a:ext cx="15622226" cy="8483404"/>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7" name="Chart 6">
            <a:extLst>
              <a:ext uri="{FF2B5EF4-FFF2-40B4-BE49-F238E27FC236}">
                <a16:creationId xmlns:a16="http://schemas.microsoft.com/office/drawing/2014/main" id="{BBA5E581-A645-145C-797E-71A1CBFF3272}"/>
              </a:ext>
            </a:extLst>
          </p:cNvPr>
          <p:cNvGraphicFramePr/>
          <p:nvPr>
            <p:extLst>
              <p:ext uri="{D42A27DB-BD31-4B8C-83A1-F6EECF244321}">
                <p14:modId xmlns:p14="http://schemas.microsoft.com/office/powerpoint/2010/main" val="4154656821"/>
              </p:ext>
            </p:extLst>
          </p:nvPr>
        </p:nvGraphicFramePr>
        <p:xfrm>
          <a:off x="13088815" y="15180936"/>
          <a:ext cx="15547551" cy="708663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0" name="Chart 9">
            <a:extLst>
              <a:ext uri="{FF2B5EF4-FFF2-40B4-BE49-F238E27FC236}">
                <a16:creationId xmlns:a16="http://schemas.microsoft.com/office/drawing/2014/main" id="{3CAE879F-E021-E40B-CB12-0F547267C2F5}"/>
              </a:ext>
            </a:extLst>
          </p:cNvPr>
          <p:cNvGraphicFramePr/>
          <p:nvPr>
            <p:extLst>
              <p:ext uri="{D42A27DB-BD31-4B8C-83A1-F6EECF244321}">
                <p14:modId xmlns:p14="http://schemas.microsoft.com/office/powerpoint/2010/main" val="3270363569"/>
              </p:ext>
            </p:extLst>
          </p:nvPr>
        </p:nvGraphicFramePr>
        <p:xfrm>
          <a:off x="12951305" y="22495274"/>
          <a:ext cx="15916595" cy="6061725"/>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278644346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507c5a1d-bc5b-4ae9-ba84-12413f3bbdc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774ED7575E13B4EA3E0ECC0EA626F72" ma:contentTypeVersion="13" ma:contentTypeDescription="Create a new document." ma:contentTypeScope="" ma:versionID="07108be9a2e6dcc5234092aaf2265c20">
  <xsd:schema xmlns:xsd="http://www.w3.org/2001/XMLSchema" xmlns:xs="http://www.w3.org/2001/XMLSchema" xmlns:p="http://schemas.microsoft.com/office/2006/metadata/properties" xmlns:ns3="507c5a1d-bc5b-4ae9-ba84-12413f3bbdc7" xmlns:ns4="a2118351-7f35-452a-ab45-16240d2f7f7e" targetNamespace="http://schemas.microsoft.com/office/2006/metadata/properties" ma:root="true" ma:fieldsID="39cbe816a594f300108ec436c736428e" ns3:_="" ns4:_="">
    <xsd:import namespace="507c5a1d-bc5b-4ae9-ba84-12413f3bbdc7"/>
    <xsd:import namespace="a2118351-7f35-452a-ab45-16240d2f7f7e"/>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7c5a1d-bc5b-4ae9-ba84-12413f3bbdc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_activity" ma:index="20"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2118351-7f35-452a-ab45-16240d2f7f7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35E355-C19D-46AE-8E07-34679452F25C}">
  <ds:schemaRefs>
    <ds:schemaRef ds:uri="http://schemas.microsoft.com/office/2006/documentManagement/types"/>
    <ds:schemaRef ds:uri="http://schemas.microsoft.com/office/infopath/2007/PartnerControls"/>
    <ds:schemaRef ds:uri="507c5a1d-bc5b-4ae9-ba84-12413f3bbdc7"/>
    <ds:schemaRef ds:uri="http://schemas.openxmlformats.org/package/2006/metadata/core-properties"/>
    <ds:schemaRef ds:uri="http://purl.org/dc/elements/1.1/"/>
    <ds:schemaRef ds:uri="http://www.w3.org/XML/1998/namespace"/>
    <ds:schemaRef ds:uri="a2118351-7f35-452a-ab45-16240d2f7f7e"/>
    <ds:schemaRef ds:uri="http://schemas.microsoft.com/office/2006/metadata/properties"/>
    <ds:schemaRef ds:uri="http://purl.org/dc/dcmitype/"/>
    <ds:schemaRef ds:uri="http://purl.org/dc/terms/"/>
  </ds:schemaRefs>
</ds:datastoreItem>
</file>

<file path=customXml/itemProps2.xml><?xml version="1.0" encoding="utf-8"?>
<ds:datastoreItem xmlns:ds="http://schemas.openxmlformats.org/officeDocument/2006/customXml" ds:itemID="{8EE6C32B-2957-4BAF-AF59-E14B5CAA5998}">
  <ds:schemaRefs>
    <ds:schemaRef ds:uri="http://schemas.microsoft.com/sharepoint/v3/contenttype/forms"/>
  </ds:schemaRefs>
</ds:datastoreItem>
</file>

<file path=customXml/itemProps3.xml><?xml version="1.0" encoding="utf-8"?>
<ds:datastoreItem xmlns:ds="http://schemas.openxmlformats.org/officeDocument/2006/customXml" ds:itemID="{707FE3FC-98B8-481B-9CCC-9803C89243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07c5a1d-bc5b-4ae9-ba84-12413f3bbdc7"/>
    <ds:schemaRef ds:uri="a2118351-7f35-452a-ab45-16240d2f7f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108</TotalTime>
  <Words>805</Words>
  <Application>Microsoft Macintosh PowerPoint</Application>
  <PresentationFormat>Custom</PresentationFormat>
  <Paragraphs>26</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Georgia</vt:lpstr>
      <vt:lpstr>Stratum2 Black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Leffler, Samantha B</dc:creator>
  <cp:lastModifiedBy>Keith Bellingham</cp:lastModifiedBy>
  <cp:revision>3</cp:revision>
  <dcterms:created xsi:type="dcterms:W3CDTF">2026-07-14T05:56:40Z</dcterms:created>
  <dcterms:modified xsi:type="dcterms:W3CDTF">2026-09-15T22:47:50Z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0x0101008774ED7575E13B4EA3E0ECC0EA626F72</vt:lpwstr>
  </property>
</Properties>
</file>